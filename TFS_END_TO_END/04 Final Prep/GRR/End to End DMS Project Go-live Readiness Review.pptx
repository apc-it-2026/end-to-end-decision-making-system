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10782" r:id="rId2"/>
    <p:sldId id="10795" r:id="rId3"/>
    <p:sldId id="10813" r:id="rId4"/>
    <p:sldId id="10814" r:id="rId5"/>
    <p:sldId id="10807" r:id="rId6"/>
    <p:sldId id="10812" r:id="rId7"/>
    <p:sldId id="10805" r:id="rId8"/>
    <p:sldId id="10815" r:id="rId9"/>
    <p:sldId id="10808" r:id="rId10"/>
    <p:sldId id="10806" r:id="rId11"/>
    <p:sldId id="10810" r:id="rId12"/>
    <p:sldId id="10802" r:id="rId13"/>
    <p:sldId id="10794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656C7AB-63F8-42B9-AC75-D31A51D574FA}">
          <p14:sldIdLst>
            <p14:sldId id="10782"/>
            <p14:sldId id="10795"/>
            <p14:sldId id="10813"/>
            <p14:sldId id="10814"/>
            <p14:sldId id="10807"/>
            <p14:sldId id="10812"/>
            <p14:sldId id="10805"/>
            <p14:sldId id="10815"/>
            <p14:sldId id="10808"/>
            <p14:sldId id="10806"/>
            <p14:sldId id="10810"/>
            <p14:sldId id="10802"/>
            <p14:sldId id="107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09DCE7"/>
    <a:srgbClr val="1641F6"/>
    <a:srgbClr val="E3F3D1"/>
    <a:srgbClr val="000458"/>
    <a:srgbClr val="280688"/>
    <a:srgbClr val="1E008A"/>
    <a:srgbClr val="FF9328"/>
    <a:srgbClr val="DB6A03"/>
    <a:srgbClr val="199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1" autoAdjust="0"/>
    <p:restoredTop sz="93864" autoAdjust="0"/>
  </p:normalViewPr>
  <p:slideViewPr>
    <p:cSldViewPr snapToGrid="0">
      <p:cViewPr varScale="1">
        <p:scale>
          <a:sx n="109" d="100"/>
          <a:sy n="109" d="100"/>
        </p:scale>
        <p:origin x="45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60" y="64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80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711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gradFill>
          <a:gsLst>
            <a:gs pos="0">
              <a:schemeClr val="bg2"/>
            </a:gs>
            <a:gs pos="29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xmlns="" id="{527F1AD8-24B0-428F-B9D3-C9730E641373}"/>
              </a:ext>
            </a:extLst>
          </p:cNvPr>
          <p:cNvSpPr/>
          <p:nvPr userDrawn="1"/>
        </p:nvSpPr>
        <p:spPr>
          <a:xfrm>
            <a:off x="6489959" y="407020"/>
            <a:ext cx="5030529" cy="604396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50233" y="3786116"/>
            <a:ext cx="10668664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850232" y="1829474"/>
            <a:ext cx="10668665" cy="1956643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50233" y="4371816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50233" y="4668087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xmlns="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101303" y="3263775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102419" y="4159125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xmlns="" id="{21F3CE9D-9077-43E8-B763-90002C65C59D}"/>
              </a:ext>
            </a:extLst>
          </p:cNvPr>
          <p:cNvSpPr/>
          <p:nvPr userDrawn="1"/>
        </p:nvSpPr>
        <p:spPr>
          <a:xfrm flipH="1">
            <a:off x="670396" y="902095"/>
            <a:ext cx="4206404" cy="505381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8ECB82F-2036-47F8-967F-811316D65A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7E58D20-F6D3-402F-8CAE-45C93DE21A0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199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xmlns="" id="{10CDFBA3-1B3A-4680-B040-97746005F91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9924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240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3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4" y="1685956"/>
            <a:ext cx="5326061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6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199" y="1685956"/>
            <a:ext cx="5348287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7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96" y="-14144"/>
            <a:ext cx="6774874" cy="6740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7" name="Picture 3" descr="E:\2018\4\55e00c0cb998f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496" y="555532"/>
            <a:ext cx="12066193" cy="75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2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2A0A934-5CD6-45C4-85B8-F0193DB3210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1130299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193FB480-9825-4C58-BCE4-FA8E8034DF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69924" y="1138237"/>
            <a:ext cx="4282322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xmlns="" id="{F4537028-F61E-47F3-9D71-30474CF1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713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F6A26850-400B-4B40-A941-1801CDFB6B6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4CE9257-C5F8-43EE-8C8C-4FD143283D4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9925" y="1130300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0074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7783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xmlns="" id="{E692F8FD-396E-466B-89C5-C3673A49DCA1}"/>
              </a:ext>
            </a:extLst>
          </p:cNvPr>
          <p:cNvSpPr>
            <a:spLocks/>
          </p:cNvSpPr>
          <p:nvPr userDrawn="1"/>
        </p:nvSpPr>
        <p:spPr bwMode="auto">
          <a:xfrm>
            <a:off x="669925" y="1006858"/>
            <a:ext cx="4911143" cy="5233605"/>
          </a:xfrm>
          <a:custGeom>
            <a:avLst/>
            <a:gdLst>
              <a:gd name="T0" fmla="*/ 0 w 4237"/>
              <a:gd name="T1" fmla="*/ 0 h 4090"/>
              <a:gd name="T2" fmla="*/ 4237 w 4237"/>
              <a:gd name="T3" fmla="*/ 722 h 4090"/>
              <a:gd name="T4" fmla="*/ 4237 w 4237"/>
              <a:gd name="T5" fmla="*/ 3368 h 4090"/>
              <a:gd name="T6" fmla="*/ 0 w 4237"/>
              <a:gd name="T7" fmla="*/ 4090 h 4090"/>
              <a:gd name="T8" fmla="*/ 0 w 4237"/>
              <a:gd name="T9" fmla="*/ 0 h 4090"/>
              <a:gd name="T10" fmla="*/ 0 w 4237"/>
              <a:gd name="T11" fmla="*/ 0 h 4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7" h="4090">
                <a:moveTo>
                  <a:pt x="0" y="0"/>
                </a:moveTo>
                <a:lnTo>
                  <a:pt x="4237" y="722"/>
                </a:lnTo>
                <a:lnTo>
                  <a:pt x="4237" y="3368"/>
                </a:lnTo>
                <a:lnTo>
                  <a:pt x="0" y="4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39724" r="-20126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40379" y="1929147"/>
            <a:ext cx="5280109" cy="1953042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40379" y="4827784"/>
            <a:ext cx="5280109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2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xmlns="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381" y="4531513"/>
            <a:ext cx="5280109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2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xmlns="" id="{610AAC8D-E8AF-4E03-A79B-2806EB93B21D}"/>
              </a:ext>
            </a:extLst>
          </p:cNvPr>
          <p:cNvSpPr/>
          <p:nvPr userDrawn="1"/>
        </p:nvSpPr>
        <p:spPr>
          <a:xfrm rot="16200000" flipH="1">
            <a:off x="9239444" y="3287903"/>
            <a:ext cx="5233607" cy="671517"/>
          </a:xfrm>
          <a:prstGeom prst="trapezoid">
            <a:avLst>
              <a:gd name="adj" fmla="val 1182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538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3319-3C50-4736-A187-43CDD796BC10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AA8FD-5DD8-4B23-AED2-5EB2A04A0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5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4" r:id="rId4"/>
    <p:sldLayoutId id="2147483665" r:id="rId5"/>
    <p:sldLayoutId id="2147483670" r:id="rId6"/>
    <p:sldLayoutId id="2147483655" r:id="rId7"/>
    <p:sldLayoutId id="2147483666" r:id="rId8"/>
    <p:sldLayoutId id="2147483667" r:id="rId9"/>
    <p:sldLayoutId id="2147483668" r:id="rId10"/>
    <p:sldLayoutId id="2147483661" r:id="rId11"/>
    <p:sldLayoutId id="2147483671" r:id="rId12"/>
    <p:sldLayoutId id="2147483672" r:id="rId1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emf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2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1208763"/>
            <a:ext cx="6301648" cy="4489376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94014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97783" y="2237098"/>
            <a:ext cx="6003866" cy="1956643"/>
          </a:xfrm>
        </p:spPr>
        <p:txBody>
          <a:bodyPr>
            <a:normAutofit/>
          </a:bodyPr>
          <a:lstStyle/>
          <a:p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to End Decision Making </a:t>
            </a:r>
            <a:b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Project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o-live </a:t>
            </a: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eadiness </a:t>
            </a: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eview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97784" y="4559100"/>
            <a:ext cx="6003866" cy="29627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team</a:t>
            </a:r>
            <a:endParaRPr lang="en-US" altLang="zh-C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97784" y="4855371"/>
            <a:ext cx="6003866" cy="29627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2025/08/09</a:t>
            </a:r>
            <a:endParaRPr lang="en-US" altLang="zh-C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xmlns="" id="{E131C212-50F7-4AAE-A411-7BEAE36ED737}"/>
              </a:ext>
            </a:extLst>
          </p:cNvPr>
          <p:cNvSpPr/>
          <p:nvPr/>
        </p:nvSpPr>
        <p:spPr>
          <a:xfrm rot="16200000" flipH="1">
            <a:off x="8506328" y="3172325"/>
            <a:ext cx="6858001" cy="513352"/>
          </a:xfrm>
          <a:prstGeom prst="trapezoid">
            <a:avLst>
              <a:gd name="adj" fmla="val 58260"/>
            </a:avLst>
          </a:prstGeom>
          <a:gradFill>
            <a:gsLst>
              <a:gs pos="0">
                <a:srgbClr val="000458"/>
              </a:gs>
              <a:gs pos="100000">
                <a:srgbClr val="09DCE7"/>
              </a:gs>
              <a:gs pos="50000">
                <a:srgbClr val="1641F6"/>
              </a:gs>
            </a:gsLst>
            <a:lin ang="10800000" scaled="0"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05" y="1448899"/>
            <a:ext cx="1861853" cy="1189005"/>
          </a:xfrm>
          <a:prstGeom prst="rect">
            <a:avLst/>
          </a:prstGeom>
        </p:spPr>
      </p:pic>
      <p:sp>
        <p:nvSpPr>
          <p:cNvPr id="10" name="TextBox 7"/>
          <p:cNvSpPr txBox="1"/>
          <p:nvPr/>
        </p:nvSpPr>
        <p:spPr>
          <a:xfrm>
            <a:off x="3489891" y="6332449"/>
            <a:ext cx="5623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万行动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e-Apache, one Apache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41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1562936"/>
            <a:ext cx="10061945" cy="7655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上线后效益追踪规划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Benefit Tracking Plan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696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441348" y="115920"/>
            <a:ext cx="10850563" cy="652921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j-ea"/>
              </a:rPr>
              <a:t>项目范围 </a:t>
            </a:r>
            <a:r>
              <a:rPr lang="en-US" altLang="zh-CN" sz="2400" dirty="0">
                <a:latin typeface="+mj-ea"/>
              </a:rPr>
              <a:t>Project Scope</a:t>
            </a:r>
            <a:endParaRPr lang="zh-CN" altLang="en-US" sz="2400" dirty="0">
              <a:latin typeface="+mj-ea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63097"/>
              </p:ext>
            </p:extLst>
          </p:nvPr>
        </p:nvGraphicFramePr>
        <p:xfrm>
          <a:off x="223094" y="1246944"/>
          <a:ext cx="11858431" cy="5586367"/>
        </p:xfrm>
        <a:graphic>
          <a:graphicData uri="http://schemas.openxmlformats.org/drawingml/2006/table">
            <a:tbl>
              <a:tblPr/>
              <a:tblGrid>
                <a:gridCol w="6661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683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528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90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192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8865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序号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fontAlgn="ctr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类别</a:t>
                      </a:r>
                      <a:endParaRPr lang="en-US" altLang="zh-C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354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Category</a:t>
                      </a:r>
                      <a:endParaRPr lang="zh-CN" alt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范围内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Scope-in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范围外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Scope-out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备注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Remark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7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公司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Company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APACHE 5001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Later Will Implement in T2 Factories.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模块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Modules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End To End Decision Making System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0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系统系统</a:t>
                      </a: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System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endParaRPr lang="en-US" altLang="zh-CN" sz="14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Visualization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Visualization based on child article in BOM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visualization for purchase based on article and material components 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 Quantities data visualization for Production 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 Quantities data visualization for finished goods and shipment 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endParaRPr lang="en-US" altLang="zh-CN" sz="14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Accessing Permissions 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 based Permissions are given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endParaRPr lang="en-US" altLang="zh-CN" sz="14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</a:t>
                      </a:r>
                    </a:p>
                    <a:p>
                      <a:pPr marL="285750" indent="-2857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Identify the cutting stoppage lines before 3 days and escalate issues to warehouse department for material. 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It Avoids duplicate data.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It avoids large time for data tracking.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31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项目收益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Benefit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43379" y="1189608"/>
            <a:ext cx="109284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</a:rPr>
              <a:t>Hard Saving : </a:t>
            </a:r>
            <a:r>
              <a:rPr lang="en-IN" b="1" dirty="0" smtClean="0">
                <a:solidFill>
                  <a:srgbClr val="000000"/>
                </a:solidFill>
              </a:rPr>
              <a:t>End to End Decision making system</a:t>
            </a:r>
            <a:r>
              <a:rPr lang="en-IN" dirty="0" smtClean="0">
                <a:solidFill>
                  <a:srgbClr val="000000"/>
                </a:solidFill>
              </a:rPr>
              <a:t> </a:t>
            </a:r>
            <a:r>
              <a:rPr lang="en-IN" dirty="0" smtClean="0">
                <a:solidFill>
                  <a:srgbClr val="000000"/>
                </a:solidFill>
              </a:rPr>
              <a:t>Can </a:t>
            </a:r>
            <a:r>
              <a:rPr lang="en-IN" dirty="0">
                <a:solidFill>
                  <a:srgbClr val="000000"/>
                </a:solidFill>
              </a:rPr>
              <a:t>Saves  </a:t>
            </a:r>
            <a:r>
              <a:rPr lang="en-IN" dirty="0" smtClean="0">
                <a:solidFill>
                  <a:srgbClr val="000000"/>
                </a:solidFill>
              </a:rPr>
              <a:t>1 </a:t>
            </a:r>
            <a:r>
              <a:rPr lang="en-IN" dirty="0">
                <a:solidFill>
                  <a:srgbClr val="000000"/>
                </a:solidFill>
              </a:rPr>
              <a:t>Hours Per Working Day For Each Person</a:t>
            </a:r>
            <a:r>
              <a:rPr lang="en-IN" dirty="0" smtClean="0">
                <a:solidFill>
                  <a:srgbClr val="000000"/>
                </a:solidFill>
              </a:rPr>
              <a:t>.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b="1" dirty="0">
                <a:solidFill>
                  <a:srgbClr val="000000"/>
                </a:solidFill>
              </a:rPr>
              <a:t>Total Mds </a:t>
            </a:r>
            <a:r>
              <a:rPr lang="en-IN" b="1" dirty="0" smtClean="0">
                <a:solidFill>
                  <a:srgbClr val="000000"/>
                </a:solidFill>
              </a:rPr>
              <a:t>Saved: </a:t>
            </a:r>
            <a:r>
              <a:rPr lang="en-IN" dirty="0" smtClean="0">
                <a:solidFill>
                  <a:srgbClr val="000000"/>
                </a:solidFill>
              </a:rPr>
              <a:t>468 </a:t>
            </a:r>
            <a:r>
              <a:rPr lang="en-IN" dirty="0" smtClean="0">
                <a:solidFill>
                  <a:srgbClr val="000000"/>
                </a:solidFill>
              </a:rPr>
              <a:t>Mds (4 </a:t>
            </a:r>
            <a:r>
              <a:rPr lang="en-IN" dirty="0">
                <a:solidFill>
                  <a:srgbClr val="000000"/>
                </a:solidFill>
              </a:rPr>
              <a:t>Staff </a:t>
            </a:r>
            <a:r>
              <a:rPr lang="en-IN" dirty="0" smtClean="0">
                <a:solidFill>
                  <a:srgbClr val="000000"/>
                </a:solidFill>
              </a:rPr>
              <a:t>*</a:t>
            </a:r>
            <a:r>
              <a:rPr lang="en-IN" dirty="0">
                <a:solidFill>
                  <a:srgbClr val="000000"/>
                </a:solidFill>
              </a:rPr>
              <a:t>1</a:t>
            </a:r>
            <a:r>
              <a:rPr lang="en-IN" dirty="0" smtClean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Hour Per Day *26 Working Days Per Month*12 Months*3 Years/8 Hours Per Day</a:t>
            </a:r>
            <a:r>
              <a:rPr lang="en-IN" dirty="0" smtClean="0">
                <a:solidFill>
                  <a:srgbClr val="000000"/>
                </a:solidFill>
              </a:rPr>
              <a:t>)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b="1" dirty="0">
                <a:solidFill>
                  <a:srgbClr val="000000"/>
                </a:solidFill>
              </a:rPr>
              <a:t>Hard </a:t>
            </a:r>
            <a:r>
              <a:rPr lang="en-IN" b="1" dirty="0" smtClean="0">
                <a:solidFill>
                  <a:srgbClr val="000000"/>
                </a:solidFill>
              </a:rPr>
              <a:t>Saving Amount</a:t>
            </a:r>
            <a:r>
              <a:rPr lang="en-IN" b="1" dirty="0">
                <a:solidFill>
                  <a:srgbClr val="000000"/>
                </a:solidFill>
              </a:rPr>
              <a:t>: </a:t>
            </a:r>
            <a:r>
              <a:rPr lang="en-IN" dirty="0" smtClean="0">
                <a:solidFill>
                  <a:srgbClr val="000000"/>
                </a:solidFill>
              </a:rPr>
              <a:t>USD </a:t>
            </a:r>
            <a:r>
              <a:rPr lang="en-IN" dirty="0"/>
              <a:t>$5,054.40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0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2392310"/>
            <a:ext cx="10061945" cy="836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上线后效益追踪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Benefit Tracking Plan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35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10565394" y="72395"/>
            <a:ext cx="1453034" cy="704850"/>
            <a:chOff x="10067453" y="63342"/>
            <a:chExt cx="1453034" cy="704850"/>
          </a:xfrm>
        </p:grpSpPr>
        <p:sp>
          <p:nvSpPr>
            <p:cNvPr id="54" name="矩形 53"/>
            <p:cNvSpPr/>
            <p:nvPr/>
          </p:nvSpPr>
          <p:spPr>
            <a:xfrm>
              <a:off x="10067453" y="63342"/>
              <a:ext cx="1453034" cy="704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lt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7377" y="187665"/>
              <a:ext cx="456204" cy="456204"/>
            </a:xfrm>
            <a:prstGeom prst="rect">
              <a:avLst/>
            </a:prstGeom>
          </p:spPr>
        </p:pic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7521" y="63342"/>
              <a:ext cx="742950" cy="704850"/>
            </a:xfrm>
            <a:prstGeom prst="rect">
              <a:avLst/>
            </a:prstGeom>
          </p:spPr>
        </p:pic>
      </p:grpSp>
      <p:sp>
        <p:nvSpPr>
          <p:cNvPr id="39" name="Rectangle 33">
            <a:extLst>
              <a:ext uri="{FF2B5EF4-FFF2-40B4-BE49-F238E27FC236}">
                <a16:creationId xmlns:a16="http://schemas.microsoft.com/office/drawing/2014/main" xmlns="" id="{5E94D539-D92D-4D74-90AA-DF9239A0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9" y="859734"/>
            <a:ext cx="12062704" cy="5849410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defTabSz="514350">
              <a:defRPr/>
            </a:pPr>
            <a:endParaRPr lang="en-US" altLang="zh-CN" sz="1300" kern="0">
              <a:solidFill>
                <a:srgbClr val="FFFFFF"/>
              </a:solidFill>
              <a:latin typeface="+mj-lt"/>
              <a:ea typeface="+mj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96EEC963-3133-45E3-BD05-17C0416035A1}"/>
              </a:ext>
            </a:extLst>
          </p:cNvPr>
          <p:cNvGrpSpPr/>
          <p:nvPr/>
        </p:nvGrpSpPr>
        <p:grpSpPr>
          <a:xfrm>
            <a:off x="10565394" y="-58239"/>
            <a:ext cx="1453034" cy="704850"/>
            <a:chOff x="10067453" y="63342"/>
            <a:chExt cx="1453034" cy="7048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A0ED57D9-25F1-4A49-84C8-A10EDFD0AE4D}"/>
                </a:ext>
              </a:extLst>
            </p:cNvPr>
            <p:cNvSpPr/>
            <p:nvPr/>
          </p:nvSpPr>
          <p:spPr>
            <a:xfrm>
              <a:off x="10067453" y="63342"/>
              <a:ext cx="1453034" cy="704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lt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xmlns="" id="{FF8DD501-E1E2-426C-845A-C45874466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7377" y="187665"/>
              <a:ext cx="456204" cy="45620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xmlns="" id="{9B154FB6-1643-41C7-9BBC-E1993C4D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7521" y="63342"/>
              <a:ext cx="742950" cy="704850"/>
            </a:xfrm>
            <a:prstGeom prst="rect">
              <a:avLst/>
            </a:prstGeom>
          </p:spPr>
        </p:pic>
      </p:grp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444828" y="-270767"/>
            <a:ext cx="10850563" cy="652921"/>
          </a:xfrm>
        </p:spPr>
        <p:txBody>
          <a:bodyPr>
            <a:norm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Project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Status Overview</a:t>
            </a:r>
            <a:endParaRPr lang="zh-CN" altLang="en-US" sz="1600" dirty="0"/>
          </a:p>
        </p:txBody>
      </p:sp>
      <p:sp>
        <p:nvSpPr>
          <p:cNvPr id="48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6659527" y="35289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Close</a:t>
            </a:r>
          </a:p>
        </p:txBody>
      </p:sp>
      <p:sp>
        <p:nvSpPr>
          <p:cNvPr id="51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7722777" y="57755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Delay</a:t>
            </a:r>
          </a:p>
        </p:txBody>
      </p:sp>
      <p:sp>
        <p:nvSpPr>
          <p:cNvPr id="52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8824660" y="45921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E3F3D1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On-going</a:t>
            </a:r>
          </a:p>
        </p:txBody>
      </p:sp>
      <p:sp>
        <p:nvSpPr>
          <p:cNvPr id="58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9926899" y="35288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>
                <a:latin typeface="+mj-lt"/>
                <a:ea typeface="+mj-ea"/>
                <a:cs typeface="Microsoft YaHei" charset="-122"/>
              </a:rPr>
              <a:t>Not </a:t>
            </a: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start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43762" y="5594240"/>
            <a:ext cx="160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j-lt"/>
              </a:rPr>
              <a:t>We are here</a:t>
            </a:r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3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8979902" y="5259799"/>
            <a:ext cx="1327074" cy="73444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r>
              <a:rPr lang="en-US" altLang="zh-CN" sz="1100" b="1" dirty="0" smtClean="0">
                <a:latin typeface="+mj-lt"/>
              </a:rPr>
              <a:t>    </a:t>
            </a:r>
            <a:r>
              <a:rPr lang="en-US" altLang="zh-CN" sz="1100" b="1" dirty="0" smtClean="0">
                <a:latin typeface="+mj-lt"/>
              </a:rPr>
              <a:t>08/13 </a:t>
            </a:r>
            <a:r>
              <a:rPr lang="en-US" altLang="zh-CN" sz="1100" b="1" dirty="0">
                <a:latin typeface="+mj-lt"/>
              </a:rPr>
              <a:t>Go-live</a:t>
            </a:r>
            <a:endParaRPr lang="zh-CN" altLang="en-US" sz="1100" b="1" dirty="0">
              <a:latin typeface="+mj-lt"/>
            </a:endParaRPr>
          </a:p>
        </p:txBody>
      </p:sp>
      <p:sp>
        <p:nvSpPr>
          <p:cNvPr id="85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1174114" y="567552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01/21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PI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88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55" y="614885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10471721" y="55371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08/13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Go-live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93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927" y="589964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98493" y="1189046"/>
            <a:ext cx="2467154" cy="454624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PI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01/21 </a:t>
            </a:r>
            <a:r>
              <a:rPr lang="en-US" altLang="zh-CN" sz="1100" b="1" dirty="0" smtClean="0">
                <a:latin typeface="+mj-lt"/>
                <a:ea typeface="+mj-ea"/>
              </a:rPr>
              <a:t>Close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3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2405849" y="2358864"/>
            <a:ext cx="2024108" cy="622050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zh-CN" altLang="en-US" sz="1100" b="1" dirty="0" smtClean="0">
                <a:latin typeface="+mj-lt"/>
                <a:ea typeface="+mj-ea"/>
              </a:rPr>
              <a:t>蓝图</a:t>
            </a:r>
            <a:r>
              <a:rPr lang="en-US" altLang="zh-CN" sz="1100" b="1" dirty="0" smtClean="0">
                <a:latin typeface="+mj-lt"/>
                <a:ea typeface="+mj-ea"/>
              </a:rPr>
              <a:t>Blueprint 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</a:rPr>
              <a:t>02/08 </a:t>
            </a:r>
            <a:r>
              <a:rPr lang="en-US" altLang="zh-CN" sz="1100" b="1" dirty="0" smtClean="0">
                <a:latin typeface="+mj-lt"/>
              </a:rPr>
              <a:t>Completed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42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4046453" y="1316101"/>
            <a:ext cx="1292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01/23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KO &amp;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02/08</a:t>
            </a:r>
          </a:p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Blueprint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Review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44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19" y="1532820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7771930" y="4602972"/>
            <a:ext cx="1172977" cy="73444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08/09 </a:t>
            </a:r>
            <a:r>
              <a:rPr lang="en-US" altLang="zh-CN" sz="1300" dirty="0">
                <a:latin typeface="+mj-lt"/>
                <a:ea typeface="+mj-ea"/>
                <a:cs typeface="Microsoft YaHei" charset="-122"/>
              </a:rPr>
              <a:t>Project      sign-off</a:t>
            </a:r>
          </a:p>
          <a:p>
            <a:pPr algn="ctr" defTabSz="503635">
              <a:buClr>
                <a:srgbClr val="000000"/>
              </a:buClr>
            </a:pPr>
            <a:endParaRPr lang="zh-CN" altLang="en-US" sz="1300" dirty="0">
              <a:latin typeface="+mj-lt"/>
              <a:ea typeface="+mj-ea"/>
              <a:cs typeface="Microsoft YaHei" charset="-122"/>
            </a:endParaRPr>
          </a:p>
        </p:txBody>
      </p:sp>
      <p:sp>
        <p:nvSpPr>
          <p:cNvPr id="69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8476603" y="503593"/>
            <a:ext cx="1917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08/09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Project sign-off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70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49" y="541146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1610907" y="1772059"/>
            <a:ext cx="1833629" cy="489201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KO Prep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01/23 </a:t>
            </a:r>
            <a:r>
              <a:rPr lang="en-US" altLang="zh-CN" sz="1100" b="1" dirty="0" smtClean="0">
                <a:latin typeface="+mj-lt"/>
                <a:ea typeface="+mj-ea"/>
              </a:rPr>
              <a:t>Completed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49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2262779" y="497174"/>
            <a:ext cx="1183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01/23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Kick-off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61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903" y="517755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3" y="901032"/>
            <a:ext cx="11934825" cy="266700"/>
          </a:xfrm>
          <a:prstGeom prst="rect">
            <a:avLst/>
          </a:prstGeom>
        </p:spPr>
      </p:pic>
      <p:cxnSp>
        <p:nvCxnSpPr>
          <p:cNvPr id="66" name="Straight Connector 118">
            <a:extLst>
              <a:ext uri="{FF2B5EF4-FFF2-40B4-BE49-F238E27FC236}">
                <a16:creationId xmlns:a16="http://schemas.microsoft.com/office/drawing/2014/main" xmlns="" id="{ED304844-36D3-4B47-A1BA-28EBE7ED05EC}"/>
              </a:ext>
            </a:extLst>
          </p:cNvPr>
          <p:cNvCxnSpPr/>
          <p:nvPr/>
        </p:nvCxnSpPr>
        <p:spPr>
          <a:xfrm flipH="1">
            <a:off x="7481116" y="705212"/>
            <a:ext cx="26438" cy="5974601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ysDot"/>
          </a:ln>
          <a:effectLst/>
        </p:spPr>
      </p:cxnSp>
      <p:sp>
        <p:nvSpPr>
          <p:cNvPr id="5" name="Rectangle 4"/>
          <p:cNvSpPr/>
          <p:nvPr/>
        </p:nvSpPr>
        <p:spPr>
          <a:xfrm>
            <a:off x="298367" y="840024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01/20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246109" y="848269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01/24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133353" y="849337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01/25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058276" y="853569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01/27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972416" y="856822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02/28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6777508" y="3807506"/>
            <a:ext cx="994299" cy="63414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endParaRPr lang="en-US" sz="1100" b="1" dirty="0">
              <a:latin typeface="+mj-lt"/>
              <a:ea typeface="微软雅黑" panose="020B0503020204020204" pitchFamily="34" charset="-122"/>
            </a:endParaRPr>
          </a:p>
          <a:p>
            <a:pPr algn="ctr" defTabSz="503635">
              <a:buClr>
                <a:srgbClr val="000000"/>
              </a:buClr>
            </a:pP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GRR：2025/08/09</a:t>
            </a:r>
            <a:endParaRPr lang="en-US" sz="1100" b="1" dirty="0">
              <a:latin typeface="+mj-lt"/>
              <a:ea typeface="微软雅黑" panose="020B0503020204020204" pitchFamily="34" charset="-122"/>
            </a:endParaRP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>
                <a:latin typeface="+mj-lt"/>
                <a:ea typeface="微软雅黑" panose="020B0503020204020204" pitchFamily="34" charset="-122"/>
              </a:rPr>
              <a:t>      </a:t>
            </a:r>
          </a:p>
          <a:p>
            <a:pPr algn="ctr" defTabSz="503635">
              <a:buClr>
                <a:srgbClr val="000000"/>
              </a:buClr>
            </a:pPr>
            <a:endParaRPr lang="en-US" altLang="zh-CN" sz="1100" b="1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577298" y="863282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06/30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2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10209202" y="6079583"/>
            <a:ext cx="1527078" cy="62956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r>
              <a:rPr lang="en-US" altLang="zh-CN" sz="1100" b="1" dirty="0" smtClean="0">
                <a:latin typeface="+mj-lt"/>
              </a:rPr>
              <a:t> Project 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Exit：2025/08/30</a:t>
            </a:r>
            <a:endParaRPr lang="en-US" sz="1100" dirty="0">
              <a:latin typeface="+mj-lt"/>
            </a:endParaRPr>
          </a:p>
        </p:txBody>
      </p:sp>
      <p:sp>
        <p:nvSpPr>
          <p:cNvPr id="4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4296791" y="3156248"/>
            <a:ext cx="2805945" cy="63414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Realization ：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2025/07/26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/>
            </a:r>
            <a:br>
              <a:rPr lang="en-US" sz="1100" b="1" dirty="0" smtClean="0">
                <a:latin typeface="+mj-lt"/>
                <a:ea typeface="微软雅黑" panose="020B0503020204020204" pitchFamily="34" charset="-122"/>
              </a:rPr>
            </a:br>
            <a:r>
              <a:rPr lang="en-US" altLang="zh-CN" sz="1100" b="1" dirty="0" smtClean="0">
                <a:latin typeface="+mj-lt"/>
              </a:rPr>
              <a:t>     Completed</a:t>
            </a:r>
            <a:endParaRPr lang="en-US" altLang="zh-CN" sz="1100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86573" y="823915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04/16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68482" y="81749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05/01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92433" y="81749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05/15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692383" y="85682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06/01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541750" y="882685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06/15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239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上线准备检核表</a:t>
            </a:r>
            <a:r>
              <a:rPr lang="en-US" altLang="zh-CN" dirty="0"/>
              <a:t>Go-live Readiness </a:t>
            </a:r>
            <a:r>
              <a:rPr lang="en-US" altLang="zh-CN" dirty="0" smtClean="0"/>
              <a:t>Checklist-01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4968"/>
              </p:ext>
            </p:extLst>
          </p:nvPr>
        </p:nvGraphicFramePr>
        <p:xfrm>
          <a:off x="391249" y="1293141"/>
          <a:ext cx="11234693" cy="5029281"/>
        </p:xfrm>
        <a:graphic>
          <a:graphicData uri="http://schemas.openxmlformats.org/drawingml/2006/table">
            <a:tbl>
              <a:tblPr/>
              <a:tblGrid>
                <a:gridCol w="565886"/>
                <a:gridCol w="959546"/>
                <a:gridCol w="3259998"/>
                <a:gridCol w="1097943"/>
                <a:gridCol w="1094868"/>
                <a:gridCol w="1328604"/>
                <a:gridCol w="1082565"/>
                <a:gridCol w="1845283"/>
              </a:tblGrid>
              <a:tr h="488740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b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Category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检核项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 list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Owner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Actual finish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Status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Remark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</a:tr>
              <a:tr h="2728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蓝图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业务解决方案签核确认</a:t>
                      </a: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Business solution sign-off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蓝图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解决方案签核确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 solution sign-off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关键用户都已经参加培训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key users attend 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9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最终用户都已经参加培训</a:t>
                      </a: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end users attend 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最终用户通过培训检验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end users pass training test/exam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已经制作系统操作手册和相关的管理制度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SOPs and related management files have been output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已经进行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7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已经进行了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0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已进行压力测试，测试结果满足上线需求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Performance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已进行回归测试，测试结果满足上线需求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Regression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已进行用户权限测试，测试结果满足上线需求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Rights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5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上线准备检核表</a:t>
            </a:r>
            <a:r>
              <a:rPr lang="en-US" altLang="zh-CN" dirty="0"/>
              <a:t>Go-live Readiness </a:t>
            </a:r>
            <a:r>
              <a:rPr lang="en-US" altLang="zh-CN" dirty="0" smtClean="0"/>
              <a:t>Checklist-01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46954"/>
              </p:ext>
            </p:extLst>
          </p:nvPr>
        </p:nvGraphicFramePr>
        <p:xfrm>
          <a:off x="495753" y="1354101"/>
          <a:ext cx="10850564" cy="4515478"/>
        </p:xfrm>
        <a:graphic>
          <a:graphicData uri="http://schemas.openxmlformats.org/drawingml/2006/table">
            <a:tbl>
              <a:tblPr/>
              <a:tblGrid>
                <a:gridCol w="546538"/>
                <a:gridCol w="926738"/>
                <a:gridCol w="3148534"/>
                <a:gridCol w="1060403"/>
                <a:gridCol w="1057433"/>
                <a:gridCol w="1283177"/>
                <a:gridCol w="1045551"/>
                <a:gridCol w="1782190"/>
              </a:tblGrid>
              <a:tr h="542885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b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Category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检核项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 list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Owner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Actual finish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Status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Remark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</a:tr>
              <a:tr h="360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上线切换策略已经输出并达成共识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MTP strategy output and aligned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上线切换承诺书签署确认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Move-to-production Commitment file sign-off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上线切换任务规划输出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Move to production planoutput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2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网络正常，服务器和客户端的软件已经安装并测试可以正常使用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Network is OK, the server and client software have been installed and tested and can be used normally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相关用户的账号权限在正式系统都已经建立完毕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accounts and rights of relevant users have been established.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基础数据准备完毕，并已经录入正式环境，且由用户确认准确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Master data has been prepared and entered into the production database, and confirmed by the user.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已经明确上线之后的问题反馈和解决流程（</a:t>
                      </a: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PPS Plan）</a:t>
                      </a:r>
                      <a:b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problem feedback and fixing process after the go-live has been clarified (PPS Plan)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各阶段主要项目输出文档均已记录并上传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documents of each phase have been recorded and uploaded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9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3444978"/>
            <a:ext cx="10061945" cy="5269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buClr>
                <a:srgbClr val="FF9328"/>
              </a:buClr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951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3">
            <a:extLst>
              <a:ext uri="{FF2B5EF4-FFF2-40B4-BE49-F238E27FC236}">
                <a16:creationId xmlns:a16="http://schemas.microsoft.com/office/drawing/2014/main" xmlns="" id="{5E94D539-D92D-4D74-90AA-DF9239A0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231900"/>
            <a:ext cx="10011671" cy="5016500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defTabSz="514350">
              <a:defRPr/>
            </a:pPr>
            <a:endParaRPr lang="en-US" altLang="zh-CN" sz="1300" kern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Support Plan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41500" y="3041037"/>
            <a:ext cx="8291581" cy="7633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First level support: contact key </a:t>
            </a:r>
            <a:r>
              <a:rPr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users</a:t>
            </a:r>
            <a:r>
              <a:rPr lang="en-US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to handle problems</a:t>
            </a:r>
            <a:endParaRPr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1500" y="4718618"/>
            <a:ext cx="8291830" cy="892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Second level support: </a:t>
            </a:r>
            <a:r>
              <a:rPr lang="en-GB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Tracking </a:t>
            </a:r>
            <a:r>
              <a:rPr lang="en-GB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real-time data based on reports and guiding departments to maintain perfect data</a:t>
            </a:r>
            <a:r>
              <a:rPr lang="en-GB" sz="2000" dirty="0"/>
              <a:t>.</a:t>
            </a:r>
            <a:endParaRPr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1841500" y="3804402"/>
            <a:ext cx="1020465" cy="906960"/>
          </a:xfrm>
          <a:prstGeom prst="downArrow">
            <a:avLst/>
          </a:prstGeom>
          <a:solidFill>
            <a:srgbClr val="FF9A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41499" y="1639678"/>
            <a:ext cx="8291581" cy="763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lang="en-US" altLang="zh-CN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Post-production support plan: 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month 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after go-live </a:t>
            </a:r>
            <a:endParaRPr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47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4869738"/>
            <a:ext cx="10061945" cy="4465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追踪规划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Benefit Tracking Plan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75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732567" y="1956391"/>
            <a:ext cx="2785729" cy="303027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latin typeface="+mn-ea"/>
              </a:rPr>
              <a:t>YES</a:t>
            </a:r>
            <a:endParaRPr lang="zh-CN" altLang="en-US" sz="3600" b="1" dirty="0"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5999" y="1956390"/>
            <a:ext cx="2785729" cy="303027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latin typeface="+mn-ea"/>
              </a:rPr>
              <a:t>NO</a:t>
            </a:r>
            <a:endParaRPr lang="zh-CN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924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0458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FF51F16D-1BAD-46EE-A6F4-B8B94C9DF6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240379" y="2336771"/>
            <a:ext cx="5280109" cy="1953042"/>
          </a:xfrm>
        </p:spPr>
        <p:txBody>
          <a:bodyPr>
            <a:normAutofit fontScale="90000"/>
          </a:bodyPr>
          <a:lstStyle/>
          <a:p>
            <a:r>
              <a:rPr lang="en-US" altLang="zh-CN" sz="8000" b="0" dirty="0">
                <a:solidFill>
                  <a:schemeClr val="accent2"/>
                </a:solidFill>
                <a:latin typeface="Impact" panose="020B0806030902050204" pitchFamily="34" charset="0"/>
              </a:rPr>
              <a:t>Thanks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TW" altLang="en-US" sz="2800" dirty="0"/>
              <a:t>態度決定高度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Attitude is altitude</a:t>
            </a:r>
            <a:endParaRPr lang="zh-CN" altLang="en-US" sz="28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B1C99C41-FA3C-4143-91D8-921EA092CD73}"/>
              </a:ext>
            </a:extLst>
          </p:cNvPr>
          <p:cNvCxnSpPr/>
          <p:nvPr/>
        </p:nvCxnSpPr>
        <p:spPr>
          <a:xfrm>
            <a:off x="6240379" y="4771589"/>
            <a:ext cx="4876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9" y="4355759"/>
            <a:ext cx="4844384" cy="4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7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D4439"/>
      </a:accent1>
      <a:accent2>
        <a:srgbClr val="3C72CF"/>
      </a:accent2>
      <a:accent3>
        <a:srgbClr val="FF6A26"/>
      </a:accent3>
      <a:accent4>
        <a:srgbClr val="969696"/>
      </a:accent4>
      <a:accent5>
        <a:srgbClr val="B2B2B2"/>
      </a:accent5>
      <a:accent6>
        <a:srgbClr val="C5C5C5"/>
      </a:accent6>
      <a:hlink>
        <a:srgbClr val="4C4C4C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9050" cap="flat" cmpd="sng" algn="ctr">
          <a:solidFill>
            <a:srgbClr val="FFFFFF">
              <a:lumMod val="65000"/>
            </a:srgbClr>
          </a:solidFill>
          <a:prstDash val="sysDot"/>
        </a:ln>
        <a:effectLst/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16256</TotalTime>
  <Words>1348</Words>
  <Application>Microsoft Office PowerPoint</Application>
  <PresentationFormat>Widescreen</PresentationFormat>
  <Paragraphs>323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Microsoft YaHei</vt:lpstr>
      <vt:lpstr>Microsoft YaHei</vt:lpstr>
      <vt:lpstr>SimSun</vt:lpstr>
      <vt:lpstr>Arial</vt:lpstr>
      <vt:lpstr>Calibri</vt:lpstr>
      <vt:lpstr>Helvetica Light</vt:lpstr>
      <vt:lpstr>Impact</vt:lpstr>
      <vt:lpstr>Times New Roman</vt:lpstr>
      <vt:lpstr>Wingdings</vt:lpstr>
      <vt:lpstr>主题5</vt:lpstr>
      <vt:lpstr>think-cell Slide</vt:lpstr>
      <vt:lpstr>End to End Decision Making  System Project Go-live Readiness Review</vt:lpstr>
      <vt:lpstr>目录 Content</vt:lpstr>
      <vt:lpstr>项目范围 Project Scope</vt:lpstr>
      <vt:lpstr>项目收益 Project Benefit</vt:lpstr>
      <vt:lpstr>目录 Content</vt:lpstr>
      <vt:lpstr>Project Status Overview</vt:lpstr>
      <vt:lpstr>上线准备检核表Go-live Readiness Checklist-01</vt:lpstr>
      <vt:lpstr>上线准备检核表Go-live Readiness Checklist-01</vt:lpstr>
      <vt:lpstr>目录 Content</vt:lpstr>
      <vt:lpstr>上线后支持规划 Post-production Support Plan</vt:lpstr>
      <vt:lpstr>目录 Content</vt:lpstr>
      <vt:lpstr>上线决策 Go-live Decision</vt:lpstr>
      <vt:lpstr>Thanks 態度決定高度 Attitude is altitude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manohar-g</cp:lastModifiedBy>
  <cp:revision>3141</cp:revision>
  <cp:lastPrinted>2017-11-14T16:00:00Z</cp:lastPrinted>
  <dcterms:created xsi:type="dcterms:W3CDTF">2017-11-14T16:00:00Z</dcterms:created>
  <dcterms:modified xsi:type="dcterms:W3CDTF">2025-08-08T11:20:12Z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