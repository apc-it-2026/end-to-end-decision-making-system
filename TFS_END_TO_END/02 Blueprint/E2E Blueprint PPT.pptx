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10798" r:id="rId3"/>
    <p:sldId id="10852" r:id="rId4"/>
    <p:sldId id="10868" r:id="rId5"/>
    <p:sldId id="10860" r:id="rId6"/>
    <p:sldId id="10864" r:id="rId7"/>
    <p:sldId id="10866" r:id="rId8"/>
    <p:sldId id="10873" r:id="rId9"/>
    <p:sldId id="261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656C7AB-63F8-42B9-AC75-D31A51D574FA}">
          <p14:sldIdLst>
            <p14:sldId id="256"/>
            <p14:sldId id="10798"/>
            <p14:sldId id="10852"/>
            <p14:sldId id="10868"/>
            <p14:sldId id="10860"/>
            <p14:sldId id="10864"/>
            <p14:sldId id="10866"/>
            <p14:sldId id="10873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amsundar-r" initials="s" lastIdx="1" clrIdx="0">
    <p:extLst>
      <p:ext uri="{19B8F6BF-5375-455C-9EA6-DF929625EA0E}">
        <p15:presenceInfo xmlns:p15="http://schemas.microsoft.com/office/powerpoint/2012/main" userId="S-1-5-21-343818398-789336058-725345543-4276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28"/>
    <a:srgbClr val="DB6A03"/>
    <a:srgbClr val="C76F00"/>
    <a:srgbClr val="1641F6"/>
    <a:srgbClr val="CC9900"/>
    <a:srgbClr val="E3F3D1"/>
    <a:srgbClr val="199DB7"/>
    <a:srgbClr val="1F92E1"/>
    <a:srgbClr val="A104CC"/>
    <a:srgbClr val="ECF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91" autoAdjust="0"/>
    <p:restoredTop sz="93864" autoAdjust="0"/>
  </p:normalViewPr>
  <p:slideViewPr>
    <p:cSldViewPr snapToGrid="0">
      <p:cViewPr varScale="1">
        <p:scale>
          <a:sx n="109" d="100"/>
          <a:sy n="109" d="100"/>
        </p:scale>
        <p:origin x="45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60" y="64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9-11T14:26:40.629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80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4378D7-E05A-4E06-BC43-8AAD182701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95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gradFill>
          <a:gsLst>
            <a:gs pos="0">
              <a:schemeClr val="bg2"/>
            </a:gs>
            <a:gs pos="29000">
              <a:schemeClr val="bg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xmlns="" id="{527F1AD8-24B0-428F-B9D3-C9730E641373}"/>
              </a:ext>
            </a:extLst>
          </p:cNvPr>
          <p:cNvSpPr/>
          <p:nvPr userDrawn="1"/>
        </p:nvSpPr>
        <p:spPr>
          <a:xfrm>
            <a:off x="6489959" y="407020"/>
            <a:ext cx="5030529" cy="6043960"/>
          </a:xfrm>
          <a:custGeom>
            <a:avLst/>
            <a:gdLst>
              <a:gd name="connsiteX0" fmla="*/ 0 w 5030529"/>
              <a:gd name="connsiteY0" fmla="*/ 896394 h 6858000"/>
              <a:gd name="connsiteX1" fmla="*/ 963967 w 5030529"/>
              <a:gd name="connsiteY1" fmla="*/ 896394 h 6858000"/>
              <a:gd name="connsiteX2" fmla="*/ 963967 w 5030529"/>
              <a:gd name="connsiteY2" fmla="*/ 5961607 h 6858000"/>
              <a:gd name="connsiteX3" fmla="*/ 0 w 5030529"/>
              <a:gd name="connsiteY3" fmla="*/ 5961607 h 6858000"/>
              <a:gd name="connsiteX4" fmla="*/ 1221723 w 5030529"/>
              <a:gd name="connsiteY4" fmla="*/ 662486 h 6858000"/>
              <a:gd name="connsiteX5" fmla="*/ 2185690 w 5030529"/>
              <a:gd name="connsiteY5" fmla="*/ 662486 h 6858000"/>
              <a:gd name="connsiteX6" fmla="*/ 2185690 w 5030529"/>
              <a:gd name="connsiteY6" fmla="*/ 6195514 h 6858000"/>
              <a:gd name="connsiteX7" fmla="*/ 1221723 w 5030529"/>
              <a:gd name="connsiteY7" fmla="*/ 6195514 h 6858000"/>
              <a:gd name="connsiteX8" fmla="*/ 2443446 w 5030529"/>
              <a:gd name="connsiteY8" fmla="*/ 360363 h 6858000"/>
              <a:gd name="connsiteX9" fmla="*/ 3512685 w 5030529"/>
              <a:gd name="connsiteY9" fmla="*/ 360363 h 6858000"/>
              <a:gd name="connsiteX10" fmla="*/ 3512685 w 5030529"/>
              <a:gd name="connsiteY10" fmla="*/ 6497638 h 6858000"/>
              <a:gd name="connsiteX11" fmla="*/ 2443446 w 5030529"/>
              <a:gd name="connsiteY11" fmla="*/ 6497638 h 6858000"/>
              <a:gd name="connsiteX12" fmla="*/ 3770441 w 5030529"/>
              <a:gd name="connsiteY12" fmla="*/ 0 h 6858000"/>
              <a:gd name="connsiteX13" fmla="*/ 5030529 w 5030529"/>
              <a:gd name="connsiteY13" fmla="*/ 0 h 6858000"/>
              <a:gd name="connsiteX14" fmla="*/ 5030529 w 5030529"/>
              <a:gd name="connsiteY14" fmla="*/ 6858000 h 6858000"/>
              <a:gd name="connsiteX15" fmla="*/ 3770441 w 5030529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30529" h="6858000">
                <a:moveTo>
                  <a:pt x="0" y="896394"/>
                </a:moveTo>
                <a:lnTo>
                  <a:pt x="963967" y="896394"/>
                </a:lnTo>
                <a:lnTo>
                  <a:pt x="963967" y="5961607"/>
                </a:lnTo>
                <a:lnTo>
                  <a:pt x="0" y="5961607"/>
                </a:lnTo>
                <a:close/>
                <a:moveTo>
                  <a:pt x="1221723" y="662486"/>
                </a:moveTo>
                <a:lnTo>
                  <a:pt x="2185690" y="662486"/>
                </a:lnTo>
                <a:lnTo>
                  <a:pt x="2185690" y="6195514"/>
                </a:lnTo>
                <a:lnTo>
                  <a:pt x="1221723" y="6195514"/>
                </a:lnTo>
                <a:close/>
                <a:moveTo>
                  <a:pt x="2443446" y="360363"/>
                </a:moveTo>
                <a:lnTo>
                  <a:pt x="3512685" y="360363"/>
                </a:lnTo>
                <a:lnTo>
                  <a:pt x="3512685" y="6497638"/>
                </a:lnTo>
                <a:lnTo>
                  <a:pt x="2443446" y="6497638"/>
                </a:lnTo>
                <a:close/>
                <a:moveTo>
                  <a:pt x="3770441" y="0"/>
                </a:moveTo>
                <a:lnTo>
                  <a:pt x="5030529" y="0"/>
                </a:lnTo>
                <a:lnTo>
                  <a:pt x="5030529" y="6858000"/>
                </a:lnTo>
                <a:lnTo>
                  <a:pt x="3770441" y="685800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50233" y="3786116"/>
            <a:ext cx="10668664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850232" y="1829474"/>
            <a:ext cx="10668665" cy="1956643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50233" y="4371816"/>
            <a:ext cx="1066866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50233" y="4668087"/>
            <a:ext cx="1066866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xmlns="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101303" y="3263775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102419" y="4159125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xmlns="" id="{21F3CE9D-9077-43E8-B763-90002C65C59D}"/>
              </a:ext>
            </a:extLst>
          </p:cNvPr>
          <p:cNvSpPr/>
          <p:nvPr userDrawn="1"/>
        </p:nvSpPr>
        <p:spPr>
          <a:xfrm flipH="1">
            <a:off x="670396" y="902095"/>
            <a:ext cx="4206404" cy="5053810"/>
          </a:xfrm>
          <a:custGeom>
            <a:avLst/>
            <a:gdLst>
              <a:gd name="connsiteX0" fmla="*/ 0 w 5030529"/>
              <a:gd name="connsiteY0" fmla="*/ 896394 h 6858000"/>
              <a:gd name="connsiteX1" fmla="*/ 963967 w 5030529"/>
              <a:gd name="connsiteY1" fmla="*/ 896394 h 6858000"/>
              <a:gd name="connsiteX2" fmla="*/ 963967 w 5030529"/>
              <a:gd name="connsiteY2" fmla="*/ 5961607 h 6858000"/>
              <a:gd name="connsiteX3" fmla="*/ 0 w 5030529"/>
              <a:gd name="connsiteY3" fmla="*/ 5961607 h 6858000"/>
              <a:gd name="connsiteX4" fmla="*/ 1221723 w 5030529"/>
              <a:gd name="connsiteY4" fmla="*/ 662486 h 6858000"/>
              <a:gd name="connsiteX5" fmla="*/ 2185690 w 5030529"/>
              <a:gd name="connsiteY5" fmla="*/ 662486 h 6858000"/>
              <a:gd name="connsiteX6" fmla="*/ 2185690 w 5030529"/>
              <a:gd name="connsiteY6" fmla="*/ 6195514 h 6858000"/>
              <a:gd name="connsiteX7" fmla="*/ 1221723 w 5030529"/>
              <a:gd name="connsiteY7" fmla="*/ 6195514 h 6858000"/>
              <a:gd name="connsiteX8" fmla="*/ 2443446 w 5030529"/>
              <a:gd name="connsiteY8" fmla="*/ 360363 h 6858000"/>
              <a:gd name="connsiteX9" fmla="*/ 3512685 w 5030529"/>
              <a:gd name="connsiteY9" fmla="*/ 360363 h 6858000"/>
              <a:gd name="connsiteX10" fmla="*/ 3512685 w 5030529"/>
              <a:gd name="connsiteY10" fmla="*/ 6497638 h 6858000"/>
              <a:gd name="connsiteX11" fmla="*/ 2443446 w 5030529"/>
              <a:gd name="connsiteY11" fmla="*/ 6497638 h 6858000"/>
              <a:gd name="connsiteX12" fmla="*/ 3770441 w 5030529"/>
              <a:gd name="connsiteY12" fmla="*/ 0 h 6858000"/>
              <a:gd name="connsiteX13" fmla="*/ 5030529 w 5030529"/>
              <a:gd name="connsiteY13" fmla="*/ 0 h 6858000"/>
              <a:gd name="connsiteX14" fmla="*/ 5030529 w 5030529"/>
              <a:gd name="connsiteY14" fmla="*/ 6858000 h 6858000"/>
              <a:gd name="connsiteX15" fmla="*/ 3770441 w 5030529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30529" h="6858000">
                <a:moveTo>
                  <a:pt x="0" y="896394"/>
                </a:moveTo>
                <a:lnTo>
                  <a:pt x="963967" y="896394"/>
                </a:lnTo>
                <a:lnTo>
                  <a:pt x="963967" y="5961607"/>
                </a:lnTo>
                <a:lnTo>
                  <a:pt x="0" y="5961607"/>
                </a:lnTo>
                <a:close/>
                <a:moveTo>
                  <a:pt x="1221723" y="662486"/>
                </a:moveTo>
                <a:lnTo>
                  <a:pt x="2185690" y="662486"/>
                </a:lnTo>
                <a:lnTo>
                  <a:pt x="2185690" y="6195514"/>
                </a:lnTo>
                <a:lnTo>
                  <a:pt x="1221723" y="6195514"/>
                </a:lnTo>
                <a:close/>
                <a:moveTo>
                  <a:pt x="2443446" y="360363"/>
                </a:moveTo>
                <a:lnTo>
                  <a:pt x="3512685" y="360363"/>
                </a:lnTo>
                <a:lnTo>
                  <a:pt x="3512685" y="6497638"/>
                </a:lnTo>
                <a:lnTo>
                  <a:pt x="2443446" y="6497638"/>
                </a:lnTo>
                <a:close/>
                <a:moveTo>
                  <a:pt x="3770441" y="0"/>
                </a:moveTo>
                <a:lnTo>
                  <a:pt x="5030529" y="0"/>
                </a:lnTo>
                <a:lnTo>
                  <a:pt x="5030529" y="6858000"/>
                </a:lnTo>
                <a:lnTo>
                  <a:pt x="3770441" y="685800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8ECB82F-2036-47F8-967F-811316D65A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7E58D20-F6D3-402F-8CAE-45C93DE21A0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199" y="1130300"/>
            <a:ext cx="5348287" cy="5006975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xmlns="" id="{10CDFBA3-1B3A-4680-B040-97746005F91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69924" y="1130300"/>
            <a:ext cx="5348287" cy="5006975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240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3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4" y="1685956"/>
            <a:ext cx="5326061" cy="4503707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6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199" y="1685956"/>
            <a:ext cx="5348287" cy="4503707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7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5">
            <a:extLst>
              <a:ext uri="{FF2B5EF4-FFF2-40B4-BE49-F238E27FC236}">
                <a16:creationId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96" y="-14144"/>
            <a:ext cx="6774874" cy="6740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  <p:pic>
        <p:nvPicPr>
          <p:cNvPr id="7" name="Picture 3" descr="E:\2018\4\55e00c0cb998f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496" y="555532"/>
            <a:ext cx="12066193" cy="75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72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82A0A934-5CD6-45C4-85B8-F0193DB3210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1130299"/>
            <a:ext cx="6337300" cy="50069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193FB480-9825-4C58-BCE4-FA8E8034DF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69924" y="1138237"/>
            <a:ext cx="4282322" cy="4999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xmlns="" id="{F4537028-F61E-47F3-9D71-30474CF1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713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F6A26850-400B-4B40-A941-1801CDFB6B6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610599" y="1130300"/>
            <a:ext cx="2909888" cy="5006974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C4CE9257-C5F8-43EE-8C8C-4FD143283D4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9925" y="1130300"/>
            <a:ext cx="7795065" cy="50069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0074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7783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xmlns="" id="{E692F8FD-396E-466B-89C5-C3673A49DCA1}"/>
              </a:ext>
            </a:extLst>
          </p:cNvPr>
          <p:cNvSpPr>
            <a:spLocks/>
          </p:cNvSpPr>
          <p:nvPr userDrawn="1"/>
        </p:nvSpPr>
        <p:spPr bwMode="auto">
          <a:xfrm>
            <a:off x="669925" y="1006858"/>
            <a:ext cx="4911143" cy="5233605"/>
          </a:xfrm>
          <a:custGeom>
            <a:avLst/>
            <a:gdLst>
              <a:gd name="T0" fmla="*/ 0 w 4237"/>
              <a:gd name="T1" fmla="*/ 0 h 4090"/>
              <a:gd name="T2" fmla="*/ 4237 w 4237"/>
              <a:gd name="T3" fmla="*/ 722 h 4090"/>
              <a:gd name="T4" fmla="*/ 4237 w 4237"/>
              <a:gd name="T5" fmla="*/ 3368 h 4090"/>
              <a:gd name="T6" fmla="*/ 0 w 4237"/>
              <a:gd name="T7" fmla="*/ 4090 h 4090"/>
              <a:gd name="T8" fmla="*/ 0 w 4237"/>
              <a:gd name="T9" fmla="*/ 0 h 4090"/>
              <a:gd name="T10" fmla="*/ 0 w 4237"/>
              <a:gd name="T11" fmla="*/ 0 h 4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7" h="4090">
                <a:moveTo>
                  <a:pt x="0" y="0"/>
                </a:moveTo>
                <a:lnTo>
                  <a:pt x="4237" y="722"/>
                </a:lnTo>
                <a:lnTo>
                  <a:pt x="4237" y="3368"/>
                </a:lnTo>
                <a:lnTo>
                  <a:pt x="0" y="4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39724" r="-20126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40379" y="1929147"/>
            <a:ext cx="5280109" cy="1953042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40379" y="4827784"/>
            <a:ext cx="5280109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2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xmlns="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381" y="4531513"/>
            <a:ext cx="5280109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2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xmlns="" id="{610AAC8D-E8AF-4E03-A79B-2806EB93B21D}"/>
              </a:ext>
            </a:extLst>
          </p:cNvPr>
          <p:cNvSpPr/>
          <p:nvPr userDrawn="1"/>
        </p:nvSpPr>
        <p:spPr>
          <a:xfrm rot="16200000" flipH="1">
            <a:off x="9239444" y="3287903"/>
            <a:ext cx="5233607" cy="671517"/>
          </a:xfrm>
          <a:prstGeom prst="trapezoid">
            <a:avLst>
              <a:gd name="adj" fmla="val 1182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538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3319-3C50-4736-A187-43CDD796BC10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AA8FD-5DD8-4B23-AED2-5EB2A04A0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5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4" r:id="rId4"/>
    <p:sldLayoutId id="2147483665" r:id="rId5"/>
    <p:sldLayoutId id="2147483670" r:id="rId6"/>
    <p:sldLayoutId id="2147483655" r:id="rId7"/>
    <p:sldLayoutId id="2147483666" r:id="rId8"/>
    <p:sldLayoutId id="2147483667" r:id="rId9"/>
    <p:sldLayoutId id="2147483668" r:id="rId10"/>
    <p:sldLayoutId id="2147483661" r:id="rId11"/>
    <p:sldLayoutId id="2147483671" r:id="rId12"/>
    <p:sldLayoutId id="2147483672" r:id="rId1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4.xml"/><Relationship Id="rId7" Type="http://schemas.openxmlformats.org/officeDocument/2006/relationships/image" Target="../media/image6.emf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2.xml"/><Relationship Id="rId6" Type="http://schemas.openxmlformats.org/officeDocument/2006/relationships/oleObject" Target="../embeddings/oleObject2.bin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1217472"/>
            <a:ext cx="6301648" cy="44893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1" name="think-cell Slide" r:id="rId7" imgW="347" imgH="348" progId="TCLayout.ActiveDocument.1">
                  <p:embed/>
                </p:oleObj>
              </mc:Choice>
              <mc:Fallback>
                <p:oleObj name="think-cell Slide" r:id="rId7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xmlns="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EC933494-1B63-4A32-964F-D05236799B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97783" y="2237098"/>
            <a:ext cx="6003866" cy="1956643"/>
          </a:xfrm>
        </p:spPr>
        <p:txBody>
          <a:bodyPr>
            <a:normAutofit/>
          </a:bodyPr>
          <a:lstStyle/>
          <a:p>
            <a:r>
              <a:rPr lang="en-US" altLang="zh-CN" b="0" dirty="0">
                <a:latin typeface="+mj-ea"/>
              </a:rPr>
              <a:t>APACHE</a:t>
            </a:r>
            <a:br>
              <a:rPr lang="en-US" altLang="zh-CN" b="0" dirty="0">
                <a:latin typeface="+mj-ea"/>
              </a:rPr>
            </a:br>
            <a:r>
              <a:rPr lang="en-US" altLang="zh-CN" sz="2800" b="0" dirty="0" smtClean="0">
                <a:latin typeface="+mj-ea"/>
              </a:rPr>
              <a:t>End to End DMS Project </a:t>
            </a:r>
            <a:r>
              <a:rPr lang="en-US" altLang="zh-CN" sz="2800" b="0" dirty="0">
                <a:latin typeface="+mj-ea"/>
              </a:rPr>
              <a:t/>
            </a:r>
            <a:br>
              <a:rPr lang="en-US" altLang="zh-CN" sz="2800" b="0" dirty="0">
                <a:latin typeface="+mj-ea"/>
              </a:rPr>
            </a:br>
            <a:r>
              <a:rPr lang="en-US" altLang="zh-CN" sz="2800" b="0" dirty="0">
                <a:latin typeface="+mj-ea"/>
              </a:rPr>
              <a:t>_</a:t>
            </a:r>
            <a:r>
              <a:rPr lang="zh-CN" altLang="en-US" sz="2800" b="0" dirty="0">
                <a:latin typeface="+mj-ea"/>
              </a:rPr>
              <a:t>蓝图设计 </a:t>
            </a:r>
            <a:r>
              <a:rPr lang="en-US" altLang="zh-CN" sz="2800" b="0" dirty="0">
                <a:latin typeface="+mj-ea"/>
              </a:rPr>
              <a:t>Blueprint Design</a:t>
            </a:r>
            <a:endParaRPr lang="zh-CN" altLang="en-US" sz="2800" b="0" dirty="0">
              <a:latin typeface="+mj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97784" y="4559100"/>
            <a:ext cx="6003866" cy="296271"/>
          </a:xfrm>
        </p:spPr>
        <p:txBody>
          <a:bodyPr/>
          <a:lstStyle/>
          <a:p>
            <a:r>
              <a:rPr lang="en-US" altLang="zh-CN" dirty="0">
                <a:latin typeface="+mj-ea"/>
                <a:ea typeface="+mj-ea"/>
              </a:rPr>
              <a:t>MES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97784" y="4855371"/>
            <a:ext cx="6003866" cy="296271"/>
          </a:xfrm>
        </p:spPr>
        <p:txBody>
          <a:bodyPr/>
          <a:lstStyle/>
          <a:p>
            <a:r>
              <a:rPr lang="en-US" altLang="zh-CN" dirty="0" smtClean="0">
                <a:latin typeface="+mj-ea"/>
                <a:ea typeface="+mj-ea"/>
              </a:rPr>
              <a:t>2025/02/01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5" name="梯形 14">
            <a:extLst>
              <a:ext uri="{FF2B5EF4-FFF2-40B4-BE49-F238E27FC236}">
                <a16:creationId xmlns:a16="http://schemas.microsoft.com/office/drawing/2014/main" xmlns="" id="{E131C212-50F7-4AAE-A411-7BEAE36ED737}"/>
              </a:ext>
            </a:extLst>
          </p:cNvPr>
          <p:cNvSpPr/>
          <p:nvPr/>
        </p:nvSpPr>
        <p:spPr>
          <a:xfrm rot="16200000" flipH="1">
            <a:off x="8506328" y="3172325"/>
            <a:ext cx="6858001" cy="513352"/>
          </a:xfrm>
          <a:prstGeom prst="trapezoid">
            <a:avLst>
              <a:gd name="adj" fmla="val 5826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405" y="1448899"/>
            <a:ext cx="1861853" cy="1189005"/>
          </a:xfrm>
          <a:prstGeom prst="rect">
            <a:avLst/>
          </a:prstGeom>
        </p:spPr>
      </p:pic>
      <p:sp>
        <p:nvSpPr>
          <p:cNvPr id="10" name="TextBox 7"/>
          <p:cNvSpPr txBox="1"/>
          <p:nvPr/>
        </p:nvSpPr>
        <p:spPr>
          <a:xfrm>
            <a:off x="3489891" y="6332449"/>
            <a:ext cx="5623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万行动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e-Apache, one Apache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9485" y="298377"/>
            <a:ext cx="4991736" cy="672679"/>
          </a:xfrm>
        </p:spPr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0104120" y="64560"/>
            <a:ext cx="1304708" cy="704850"/>
            <a:chOff x="10067453" y="63342"/>
            <a:chExt cx="1453034" cy="704850"/>
          </a:xfrm>
        </p:grpSpPr>
        <p:sp>
          <p:nvSpPr>
            <p:cNvPr id="8" name="矩形 7"/>
            <p:cNvSpPr/>
            <p:nvPr/>
          </p:nvSpPr>
          <p:spPr>
            <a:xfrm>
              <a:off x="10067453" y="63342"/>
              <a:ext cx="1453034" cy="704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7377" y="187665"/>
              <a:ext cx="456204" cy="456204"/>
            </a:xfrm>
            <a:prstGeom prst="rect">
              <a:avLst/>
            </a:prstGeom>
          </p:spPr>
        </p:pic>
      </p:grpSp>
      <p:sp>
        <p:nvSpPr>
          <p:cNvPr id="24" name="Rectangle 8">
            <a:extLst>
              <a:ext uri="{FF2B5EF4-FFF2-40B4-BE49-F238E27FC236}">
                <a16:creationId xmlns:a16="http://schemas.microsoft.com/office/drawing/2014/main" xmlns="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95" y="1509250"/>
            <a:ext cx="814701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b="1" dirty="0">
                <a:solidFill>
                  <a:srgbClr val="C76F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6" y="1509250"/>
            <a:ext cx="7856593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DB6A03"/>
                </a:solidFill>
                <a:latin typeface="inherit"/>
              </a:rPr>
              <a:t>项目范围 </a:t>
            </a:r>
            <a:r>
              <a:rPr lang="en-US" altLang="zh-CN" b="1" dirty="0">
                <a:solidFill>
                  <a:srgbClr val="DB6A03"/>
                </a:solidFill>
                <a:latin typeface="inherit"/>
              </a:rPr>
              <a:t>Project Scope</a:t>
            </a:r>
            <a:endParaRPr lang="zh-CN" altLang="en-US" b="1" dirty="0">
              <a:solidFill>
                <a:srgbClr val="DB6A03"/>
              </a:solidFill>
              <a:latin typeface="inherit"/>
            </a:endParaRP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xmlns="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94" y="2066084"/>
            <a:ext cx="814701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b="1" dirty="0">
                <a:solidFill>
                  <a:srgbClr val="C76F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endParaRPr lang="en-US" altLang="zh-CN" sz="1800" b="1" dirty="0">
              <a:solidFill>
                <a:srgbClr val="C76F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6" y="2066084"/>
            <a:ext cx="7856594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物料编码方案 </a:t>
            </a:r>
            <a:r>
              <a:rPr lang="en-US" altLang="zh-CN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Material Coding Solution</a:t>
            </a:r>
            <a:endParaRPr lang="zh-CN" altLang="en-US" b="1" dirty="0">
              <a:solidFill>
                <a:srgbClr val="C76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xmlns="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96" y="2615632"/>
            <a:ext cx="814701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b="1" dirty="0">
                <a:solidFill>
                  <a:srgbClr val="C76F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3</a:t>
            </a:r>
            <a:endParaRPr lang="en-US" altLang="zh-CN" sz="1800" b="1" dirty="0">
              <a:solidFill>
                <a:srgbClr val="C76F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7" y="2615632"/>
            <a:ext cx="7856593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en-IN" altLang="zh-TW" b="1" dirty="0">
                <a:solidFill>
                  <a:schemeClr val="accent3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E2E DMS </a:t>
            </a:r>
            <a:r>
              <a:rPr lang="zh-TW" altLang="en-US" b="1" dirty="0">
                <a:solidFill>
                  <a:schemeClr val="accent3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工作流程 </a:t>
            </a:r>
            <a:r>
              <a:rPr lang="en-US" altLang="zh-TW" b="1" dirty="0" smtClean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E2E DMS</a:t>
            </a:r>
            <a:r>
              <a:rPr lang="en-US" altLang="zh-CN" b="1" dirty="0" smtClean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Work-flow</a:t>
            </a:r>
            <a:endParaRPr lang="zh-CN" altLang="en-US" b="1" dirty="0">
              <a:solidFill>
                <a:srgbClr val="C76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Rectangle 8">
            <a:extLst>
              <a:ext uri="{FF2B5EF4-FFF2-40B4-BE49-F238E27FC236}">
                <a16:creationId xmlns:a16="http://schemas.microsoft.com/office/drawing/2014/main" xmlns="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97" y="3160828"/>
            <a:ext cx="814701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b="1" dirty="0">
                <a:solidFill>
                  <a:srgbClr val="C76F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endParaRPr lang="en-US" altLang="zh-CN" sz="1800" b="1" dirty="0">
              <a:solidFill>
                <a:srgbClr val="C76F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8" y="3160828"/>
            <a:ext cx="7856595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系统配置与开发清单 </a:t>
            </a:r>
            <a:r>
              <a:rPr lang="en-US" altLang="zh-CN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System configuration &amp; Development List</a:t>
            </a:r>
            <a:endParaRPr lang="zh-CN" altLang="en-US" b="1" dirty="0">
              <a:solidFill>
                <a:srgbClr val="C76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Rectangle 8">
            <a:extLst>
              <a:ext uri="{FF2B5EF4-FFF2-40B4-BE49-F238E27FC236}">
                <a16:creationId xmlns:a16="http://schemas.microsoft.com/office/drawing/2014/main" xmlns="" id="{2FA75AB2-F309-4DAD-878C-2A59E7CE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96" y="3717662"/>
            <a:ext cx="814701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 hangingPunct="0">
              <a:buClr>
                <a:srgbClr val="006600"/>
              </a:buClr>
              <a:buSzPct val="85000"/>
              <a:buFont typeface="Wingdings" pitchFamily="2" charset="2"/>
              <a:buNone/>
            </a:pPr>
            <a:r>
              <a:rPr lang="en-US" altLang="zh-CN" b="1" dirty="0">
                <a:solidFill>
                  <a:srgbClr val="C76F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5</a:t>
            </a:r>
            <a:endParaRPr lang="en-US" altLang="zh-CN" sz="1800" b="1" dirty="0">
              <a:solidFill>
                <a:srgbClr val="C76F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1" y="3717662"/>
            <a:ext cx="7856595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蓝图签核确认清单 </a:t>
            </a:r>
            <a:r>
              <a:rPr lang="en-US" altLang="zh-CN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Blueprint Sign-off List</a:t>
            </a:r>
            <a:endParaRPr lang="zh-CN" altLang="en-US" b="1" dirty="0">
              <a:solidFill>
                <a:srgbClr val="C76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3" y="2077996"/>
            <a:ext cx="7856593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en-IN" altLang="zh-TW" b="1" dirty="0">
                <a:solidFill>
                  <a:srgbClr val="DB6A03"/>
                </a:solidFill>
                <a:latin typeface="inherit"/>
              </a:rPr>
              <a:t>E2E DMS </a:t>
            </a:r>
            <a:r>
              <a:rPr lang="zh-TW" altLang="en-US" b="1" dirty="0">
                <a:solidFill>
                  <a:srgbClr val="DB6A03"/>
                </a:solidFill>
                <a:latin typeface="inherit"/>
              </a:rPr>
              <a:t>流程圖 </a:t>
            </a:r>
            <a:r>
              <a:rPr lang="en-US" altLang="zh-TW" b="1" dirty="0" smtClean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E2E DMS</a:t>
            </a:r>
            <a:r>
              <a:rPr lang="en-US" altLang="zh-CN" b="1" dirty="0" smtClean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C76F00"/>
                </a:solidFill>
                <a:latin typeface="微软雅黑" pitchFamily="34" charset="-122"/>
                <a:ea typeface="微软雅黑" pitchFamily="34" charset="-122"/>
              </a:rPr>
              <a:t>Flow Chart</a:t>
            </a:r>
            <a:endParaRPr lang="zh-CN" altLang="en-US" b="1" dirty="0">
              <a:solidFill>
                <a:srgbClr val="C76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xmlns="" id="{B20B0CB0-034C-4E7D-A9A4-8FC43CA0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67401" y="4368900"/>
            <a:ext cx="7856595" cy="46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lIns="180000" tIns="46800" rIns="72000" bIns="46800" anchor="ctr"/>
          <a:lstStyle/>
          <a:p>
            <a:pPr eaLnBrk="0" latinLnBrk="1" hangingPunct="0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rgbClr val="DB6A0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蓝图签核 </a:t>
            </a:r>
            <a:r>
              <a:rPr lang="en-US" altLang="zh-CN" b="1" dirty="0" smtClean="0">
                <a:solidFill>
                  <a:srgbClr val="DB6A0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Blue print Sign-off</a:t>
            </a:r>
            <a:endParaRPr lang="zh-CN" altLang="en-US" b="1" dirty="0">
              <a:solidFill>
                <a:srgbClr val="DB6A0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045" y="4368900"/>
            <a:ext cx="8191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6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441348" y="115920"/>
            <a:ext cx="10850563" cy="652921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j-ea"/>
              </a:rPr>
              <a:t>项目范围 </a:t>
            </a:r>
            <a:r>
              <a:rPr lang="en-US" altLang="zh-CN" sz="2400" dirty="0">
                <a:latin typeface="+mj-ea"/>
              </a:rPr>
              <a:t>Project Scope</a:t>
            </a:r>
            <a:endParaRPr lang="zh-CN" altLang="en-US" sz="2400" dirty="0">
              <a:latin typeface="+mj-ea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34008"/>
              </p:ext>
            </p:extLst>
          </p:nvPr>
        </p:nvGraphicFramePr>
        <p:xfrm>
          <a:off x="222921" y="1212110"/>
          <a:ext cx="11823769" cy="4416165"/>
        </p:xfrm>
        <a:graphic>
          <a:graphicData uri="http://schemas.openxmlformats.org/drawingml/2006/table">
            <a:tbl>
              <a:tblPr/>
              <a:tblGrid>
                <a:gridCol w="6641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628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797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264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2904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2851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序号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No.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fontAlgn="ctr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类别</a:t>
                      </a:r>
                      <a:endParaRPr lang="en-US" altLang="zh-C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354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Category</a:t>
                      </a:r>
                      <a:endParaRPr lang="zh-CN" altLang="en-US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范围内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Scope-in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范围外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Scope-out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备注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Remark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152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公司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Company 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APACHE 5001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Later Will Implement in T2 Factories.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920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模块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Modules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MES PO Tracking Reports from Order to shipment  </a:t>
                      </a:r>
                      <a:endParaRPr lang="en-US" altLang="zh-CN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803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系统系统</a:t>
                      </a: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System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We are Implementing 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E2D DMS </a:t>
                      </a:r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Function MES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It is useful for get order Report and Production Report and FG Report </a:t>
                      </a:r>
                      <a:endParaRPr lang="en-US" altLang="zh-CN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45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Cutting Material Management System Flow Chart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82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1220" y="-121112"/>
            <a:ext cx="11169600" cy="1028699"/>
          </a:xfrm>
        </p:spPr>
        <p:txBody>
          <a:bodyPr>
            <a:normAutofit/>
          </a:bodyPr>
          <a:lstStyle/>
          <a:p>
            <a:r>
              <a:rPr lang="en-US" altLang="zh-CN" sz="3200" dirty="0" smtClean="0">
                <a:latin typeface="Sitka Banner" panose="02000505000000020004" pitchFamily="2" charset="0"/>
                <a:ea typeface="微软雅黑" panose="020B0503020204020204" pitchFamily="34" charset="-122"/>
              </a:rPr>
              <a:t>E2E DMS </a:t>
            </a:r>
            <a:r>
              <a:rPr lang="en-US" altLang="zh-CN" sz="3200" dirty="0">
                <a:latin typeface="Sitka Banner" panose="02000505000000020004" pitchFamily="2" charset="0"/>
                <a:ea typeface="微软雅黑" panose="020B0503020204020204" pitchFamily="34" charset="-122"/>
              </a:rPr>
              <a:t>Work-Flow</a:t>
            </a:r>
            <a:endParaRPr lang="zh-CN" altLang="en-US" sz="3200" dirty="0">
              <a:latin typeface="Sitka Banner" panose="02000505000000020004" pitchFamily="2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134010" y="3048614"/>
            <a:ext cx="1666821" cy="78474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Reports from </a:t>
            </a:r>
          </a:p>
          <a:p>
            <a:pPr algn="ctr"/>
            <a:r>
              <a:rPr lang="en-US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Order to </a:t>
            </a:r>
          </a:p>
          <a:p>
            <a:pPr algn="ctr"/>
            <a:r>
              <a:rPr lang="en-US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Shipment</a:t>
            </a:r>
            <a:endParaRPr lang="zh-CN" altLang="en-US" sz="1200" kern="0" dirty="0">
              <a:solidFill>
                <a:sysClr val="window" lastClr="FFFFFF"/>
              </a:solidFill>
              <a:latin typeface="+mj-ea"/>
              <a:ea typeface="+mj-ea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522931" y="2147572"/>
            <a:ext cx="797445" cy="25080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TO-BE</a:t>
            </a:r>
            <a:endParaRPr lang="zh-CN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50887" y="1031361"/>
            <a:ext cx="11440620" cy="5221393"/>
          </a:xfrm>
          <a:prstGeom prst="rect">
            <a:avLst/>
          </a:prstGeom>
          <a:noFill/>
          <a:ln w="19050"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041058" y="3082869"/>
            <a:ext cx="1422699" cy="78474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Use Reports Platform</a:t>
            </a:r>
            <a:endParaRPr lang="en-US" altLang="zh-CN" sz="1200" kern="0" dirty="0">
              <a:solidFill>
                <a:sysClr val="window" lastClr="FFFFFF"/>
              </a:solidFill>
              <a:latin typeface="+mj-ea"/>
              <a:ea typeface="+mj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482150" y="102920"/>
            <a:ext cx="1422840" cy="59786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noProof="0" dirty="0">
                <a:solidFill>
                  <a:sysClr val="window" lastClr="FFFFFF"/>
                </a:solidFill>
                <a:latin typeface="+mj-ea"/>
                <a:ea typeface="+mj-ea"/>
              </a:rPr>
              <a:t>线上新操作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On-line New step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47267" y="3082869"/>
            <a:ext cx="1911956" cy="78474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E2E DMS MODULE</a:t>
            </a:r>
            <a:endParaRPr lang="en-US" altLang="zh-CN" sz="1200" b="1" kern="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057389" y="102920"/>
            <a:ext cx="1468304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noProof="0" dirty="0">
                <a:solidFill>
                  <a:sysClr val="window" lastClr="FFFFFF"/>
                </a:solidFill>
                <a:latin typeface="+mj-ea"/>
                <a:ea typeface="+mj-ea"/>
              </a:rPr>
              <a:t>线上已有操作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On-line used step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31236" y="3247718"/>
            <a:ext cx="1272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+mn-ea"/>
              </a:rPr>
              <a:t>Production/</a:t>
            </a:r>
          </a:p>
          <a:p>
            <a:r>
              <a:rPr lang="en-US" altLang="zh-CN" sz="1400" b="1" dirty="0" smtClean="0">
                <a:latin typeface="+mn-ea"/>
              </a:rPr>
              <a:t>Order / FG </a:t>
            </a:r>
          </a:p>
        </p:txBody>
      </p:sp>
      <p:cxnSp>
        <p:nvCxnSpPr>
          <p:cNvPr id="77" name="直接箭头连接符 80"/>
          <p:cNvCxnSpPr>
            <a:endCxn id="46" idx="1"/>
          </p:cNvCxnSpPr>
          <p:nvPr/>
        </p:nvCxnSpPr>
        <p:spPr>
          <a:xfrm flipV="1">
            <a:off x="4445300" y="3475240"/>
            <a:ext cx="301967" cy="13787"/>
          </a:xfrm>
          <a:prstGeom prst="straightConnector1">
            <a:avLst/>
          </a:prstGeom>
          <a:noFill/>
          <a:ln w="19050" cap="flat" cmpd="sng" algn="ctr">
            <a:solidFill>
              <a:srgbClr val="FFFFFF">
                <a:lumMod val="65000"/>
              </a:srgbClr>
            </a:solidFill>
            <a:prstDash val="sysDot"/>
            <a:tailEnd type="arrow"/>
          </a:ln>
          <a:effectLst/>
        </p:spPr>
      </p:cxnSp>
      <p:cxnSp>
        <p:nvCxnSpPr>
          <p:cNvPr id="80" name="直接箭头连接符 80"/>
          <p:cNvCxnSpPr/>
          <p:nvPr/>
        </p:nvCxnSpPr>
        <p:spPr>
          <a:xfrm flipV="1">
            <a:off x="6659224" y="3454772"/>
            <a:ext cx="460493" cy="13787"/>
          </a:xfrm>
          <a:prstGeom prst="straightConnector1">
            <a:avLst/>
          </a:prstGeom>
          <a:noFill/>
          <a:ln w="19050" cap="flat" cmpd="sng" algn="ctr">
            <a:solidFill>
              <a:srgbClr val="FFFFFF">
                <a:lumMod val="65000"/>
              </a:srgbClr>
            </a:solidFill>
            <a:prstDash val="sysDot"/>
            <a:tailEnd type="arrow"/>
          </a:ln>
          <a:effectLst/>
        </p:spPr>
      </p:cxn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圆角矩形 108"/>
          <p:cNvSpPr/>
          <p:nvPr/>
        </p:nvSpPr>
        <p:spPr>
          <a:xfrm>
            <a:off x="522931" y="1152407"/>
            <a:ext cx="797445" cy="856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+mj-ea"/>
              </a:rPr>
              <a:t>AS-IS</a:t>
            </a:r>
            <a:endParaRPr lang="zh-CN" altLang="en-US" sz="12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0" name="矩形 47"/>
          <p:cNvSpPr/>
          <p:nvPr/>
        </p:nvSpPr>
        <p:spPr>
          <a:xfrm>
            <a:off x="2726572" y="1252432"/>
            <a:ext cx="1422699" cy="611203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Track Reports Individually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24" name="直接连接符 9"/>
          <p:cNvCxnSpPr/>
          <p:nvPr/>
        </p:nvCxnSpPr>
        <p:spPr>
          <a:xfrm>
            <a:off x="350887" y="2081227"/>
            <a:ext cx="1144062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2246811" y="451104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Note : Use Kanban</a:t>
            </a:r>
            <a:r>
              <a:rPr lang="en-GB" sz="1600" dirty="0"/>
              <a:t>_</a:t>
            </a:r>
            <a:r>
              <a:rPr lang="en-GB" sz="1600" dirty="0" smtClean="0"/>
              <a:t>Reports Application to track reports from Order to          shipment</a:t>
            </a:r>
            <a:endParaRPr lang="en-IN" sz="1600" dirty="0"/>
          </a:p>
        </p:txBody>
      </p:sp>
      <p:cxnSp>
        <p:nvCxnSpPr>
          <p:cNvPr id="21" name="直接箭头连接符 80"/>
          <p:cNvCxnSpPr/>
          <p:nvPr/>
        </p:nvCxnSpPr>
        <p:spPr>
          <a:xfrm flipV="1">
            <a:off x="8815125" y="3461453"/>
            <a:ext cx="460493" cy="13787"/>
          </a:xfrm>
          <a:prstGeom prst="straightConnector1">
            <a:avLst/>
          </a:prstGeom>
          <a:noFill/>
          <a:ln w="19050" cap="flat" cmpd="sng" algn="ctr">
            <a:solidFill>
              <a:srgbClr val="FFFFFF">
                <a:lumMod val="65000"/>
              </a:srgbClr>
            </a:solidFill>
            <a:prstDash val="sysDot"/>
            <a:tailEnd type="arrow"/>
          </a:ln>
          <a:effectLst/>
        </p:spPr>
      </p:cxnSp>
      <p:sp>
        <p:nvSpPr>
          <p:cNvPr id="22" name="矩形 52"/>
          <p:cNvSpPr/>
          <p:nvPr/>
        </p:nvSpPr>
        <p:spPr>
          <a:xfrm>
            <a:off x="9275618" y="3048614"/>
            <a:ext cx="1666821" cy="78474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Sending </a:t>
            </a:r>
            <a:r>
              <a:rPr lang="en-US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PO Issues via </a:t>
            </a:r>
            <a:r>
              <a:rPr lang="en-US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WhatsApp</a:t>
            </a:r>
            <a:endParaRPr lang="en-US" altLang="zh-CN" sz="1200" kern="0" dirty="0" smtClean="0">
              <a:solidFill>
                <a:sysClr val="window" lastClr="FFFF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7547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latinLnBrk="1" hangingPunct="0"/>
            <a:r>
              <a:rPr lang="zh-TW" altLang="en-US" sz="2400" dirty="0">
                <a:solidFill>
                  <a:srgbClr val="202124"/>
                </a:solidFill>
                <a:latin typeface="Cambria" panose="02040503050406030204" pitchFamily="18" charset="0"/>
                <a:cs typeface="Segoe UI" panose="020B0502040204020203" pitchFamily="34" charset="0"/>
              </a:rPr>
              <a:t>系統配置資訊</a:t>
            </a:r>
            <a:r>
              <a:rPr lang="zh-TW" altLang="en-US" sz="900" dirty="0">
                <a:latin typeface="Cambria" panose="02040503050406030204" pitchFamily="18" charset="0"/>
                <a:cs typeface="Segoe UI" panose="020B0502040204020203" pitchFamily="34" charset="0"/>
              </a:rPr>
              <a:t> </a:t>
            </a:r>
            <a:r>
              <a:rPr lang="zh-CN" altLang="en-US" sz="2400" dirty="0">
                <a:latin typeface="Cambria" panose="02040503050406030204" pitchFamily="18" charset="0"/>
                <a:ea typeface="SimSun-ExtB" panose="02010609060101010101" pitchFamily="49" charset="-122"/>
                <a:cs typeface="Segoe UI" panose="020B0502040204020203" pitchFamily="34" charset="0"/>
              </a:rPr>
              <a:t>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  <a:cs typeface="Segoe UI" panose="020B0502040204020203" pitchFamily="34" charset="0"/>
              </a:rPr>
              <a:t>System configuration Information.</a:t>
            </a:r>
            <a:endParaRPr lang="zh-CN" altLang="en-US" sz="2400" dirty="0">
              <a:latin typeface="Cambria" panose="02040503050406030204" pitchFamily="18" charset="0"/>
              <a:ea typeface="SimSun-ExtB" panose="02010609060101010101" pitchFamily="49" charset="-122"/>
              <a:cs typeface="Segoe UI" panose="020B05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70857" y="22484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0857" y="1534568"/>
            <a:ext cx="1058962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Sitka Banner" panose="02000505000000020004" pitchFamily="2" charset="0"/>
              </a:rPr>
              <a:t>No Additional Configurations Needed.</a:t>
            </a:r>
          </a:p>
          <a:p>
            <a:pPr marL="342900" indent="-342900">
              <a:buAutoNum type="arabicPeriod"/>
            </a:pPr>
            <a:endParaRPr lang="en-US" sz="2000" dirty="0">
              <a:latin typeface="Sitka Banner" panose="02000505000000020004" pitchFamily="2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Sitka Banner" panose="02000505000000020004" pitchFamily="2" charset="0"/>
              </a:rPr>
              <a:t>No Additional Systems Implemented in Production</a:t>
            </a:r>
            <a:r>
              <a:rPr lang="en-US" dirty="0">
                <a:latin typeface="Sitka Banner" panose="02000505000000020004" pitchFamily="2" charset="0"/>
              </a:rPr>
              <a:t>.</a:t>
            </a:r>
          </a:p>
          <a:p>
            <a:pPr marL="342900" indent="-342900">
              <a:buAutoNum type="arabicPeriod"/>
            </a:pPr>
            <a:endParaRPr lang="en-US" dirty="0">
              <a:latin typeface="Sitka Banner" panose="02000505000000020004" pitchFamily="2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Sitka Banner" panose="02000505000000020004" pitchFamily="2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Sitka Banner" panose="02000505000000020004" pitchFamily="2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Sitka Banner" panose="02000505000000020004" pitchFamily="2" charset="0"/>
            </a:endParaRPr>
          </a:p>
          <a:p>
            <a:endParaRPr lang="en-US" dirty="0">
              <a:latin typeface="Sitka Banner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1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0" latinLnBrk="1" hangingPunct="0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蓝图签核确认清单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Blueprint Sign-off List 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257980"/>
              </p:ext>
            </p:extLst>
          </p:nvPr>
        </p:nvGraphicFramePr>
        <p:xfrm>
          <a:off x="669924" y="1167898"/>
          <a:ext cx="10345007" cy="3106874"/>
        </p:xfrm>
        <a:graphic>
          <a:graphicData uri="http://schemas.openxmlformats.org/drawingml/2006/table">
            <a:tbl>
              <a:tblPr/>
              <a:tblGrid>
                <a:gridCol w="38672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164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26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3867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152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事项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Item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相关部门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Relevant department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相关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BPO/IT</a:t>
                      </a: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主管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Relevant BPO/IT Head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相关人员</a:t>
                      </a:r>
                      <a:b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/>
                        </a:rPr>
                        <a:t>Relevant members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4923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zh-TW" sz="1200" dirty="0" smtClean="0"/>
                        <a:t>E2E</a:t>
                      </a:r>
                      <a:r>
                        <a:rPr lang="en-US" altLang="zh-TW" sz="1200" baseline="0" dirty="0" smtClean="0"/>
                        <a:t> DMS</a:t>
                      </a:r>
                      <a:r>
                        <a:rPr lang="zh-TW" altLang="en-US" sz="1200" dirty="0" smtClean="0"/>
                        <a:t>流</a:t>
                      </a:r>
                      <a:r>
                        <a:rPr lang="zh-TW" altLang="en-US" sz="1200" dirty="0"/>
                        <a:t>程圖 </a:t>
                      </a:r>
                      <a:r>
                        <a:rPr lang="en-US" altLang="zh-TW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E2E</a:t>
                      </a:r>
                      <a:r>
                        <a:rPr lang="en-US" altLang="zh-TW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DMS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Flowchart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Order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UDAY-G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Ramaiah-b , Siva , Chandra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492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Production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SAILAJA-Y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849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FG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KUMAR-KSS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58587">
                <a:tc rowSpan="3"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r>
                        <a:rPr lang="en-US" altLang="zh-CN" sz="12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E2E DMS</a:t>
                      </a:r>
                      <a:r>
                        <a:rPr lang="zh-TW" altLang="en-US" sz="1200" dirty="0" smtClean="0"/>
                        <a:t>工</a:t>
                      </a:r>
                      <a:r>
                        <a:rPr lang="zh-TW" altLang="en-US" sz="1200" dirty="0"/>
                        <a:t>作流程  </a:t>
                      </a:r>
                      <a:r>
                        <a:rPr lang="en-US" altLang="zh-TW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E2E</a:t>
                      </a:r>
                      <a:r>
                        <a:rPr lang="en-US" altLang="zh-TW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DMS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work-flow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Order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UDAY-G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Ramaiah-b , Siva , Chandra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70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Production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SAILAJA-Y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42190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FG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KUMAR-KSS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38795"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/>
                        <a:t>系統配置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System configuration 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IT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Chandrasekhar-V</a:t>
                      </a: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4713" marR="4713" marT="47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25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4172" y="598879"/>
            <a:ext cx="888274" cy="9185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0080" y="69177"/>
            <a:ext cx="223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2"/>
                </a:solidFill>
              </a:rPr>
              <a:t>Blueprint Sign-off 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13" name="矩形 44"/>
          <p:cNvSpPr/>
          <p:nvPr/>
        </p:nvSpPr>
        <p:spPr>
          <a:xfrm>
            <a:off x="8241574" y="86029"/>
            <a:ext cx="1422840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noProof="0" dirty="0">
                <a:solidFill>
                  <a:sysClr val="window" lastClr="FFFFFF"/>
                </a:solidFill>
                <a:latin typeface="+mj-ea"/>
                <a:ea typeface="+mj-ea"/>
              </a:rPr>
              <a:t>线上新操作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On-line New step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4" name="矩形 58"/>
          <p:cNvSpPr/>
          <p:nvPr/>
        </p:nvSpPr>
        <p:spPr>
          <a:xfrm>
            <a:off x="9900635" y="103446"/>
            <a:ext cx="1468304" cy="597867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noProof="0" dirty="0">
                <a:solidFill>
                  <a:sysClr val="window" lastClr="FFFFFF"/>
                </a:solidFill>
                <a:latin typeface="+mj-ea"/>
                <a:ea typeface="+mj-ea"/>
              </a:rPr>
              <a:t>线上已有操作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On-line used step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7714" y="906975"/>
            <a:ext cx="84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AS-IS</a:t>
            </a:r>
            <a:endParaRPr lang="en-IN"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217714" y="1940814"/>
            <a:ext cx="966652" cy="308403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269964" y="3316544"/>
            <a:ext cx="91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TO-BE</a:t>
            </a:r>
            <a:endParaRPr lang="en-IN" b="1" dirty="0"/>
          </a:p>
        </p:txBody>
      </p:sp>
      <p:sp>
        <p:nvSpPr>
          <p:cNvPr id="32" name="矩形 58"/>
          <p:cNvSpPr/>
          <p:nvPr/>
        </p:nvSpPr>
        <p:spPr>
          <a:xfrm>
            <a:off x="1831168" y="703119"/>
            <a:ext cx="5641684" cy="597867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在不同的平台上跟踪订单、生产和成品报</a:t>
            </a:r>
            <a:r>
              <a:rPr lang="zh-CN" altLang="en-US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告</a:t>
            </a:r>
            <a:endParaRPr lang="en-GB" altLang="zh-CN" sz="1200" kern="0" dirty="0" smtClean="0">
              <a:solidFill>
                <a:sysClr val="window" lastClr="FFFFFF"/>
              </a:solidFill>
              <a:latin typeface="+mj-ea"/>
              <a:ea typeface="+mj-ea"/>
            </a:endParaRPr>
          </a:p>
          <a:p>
            <a:pPr lvl="0" algn="ctr">
              <a:defRPr/>
            </a:pP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Tracking </a:t>
            </a: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  <a:ea typeface="+mj-ea"/>
              </a:rPr>
              <a:t>order and production and FG reports </a:t>
            </a: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  <a:ea typeface="+mj-ea"/>
              </a:rPr>
              <a:t>in different platform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1" name="矩形 58"/>
          <p:cNvSpPr/>
          <p:nvPr/>
        </p:nvSpPr>
        <p:spPr>
          <a:xfrm>
            <a:off x="1744038" y="1940814"/>
            <a:ext cx="1115226" cy="307486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kern="0" noProof="0" dirty="0" smtClean="0">
                <a:solidFill>
                  <a:sysClr val="window" lastClr="FFFFFF"/>
                </a:solidFill>
                <a:latin typeface="+mj-ea"/>
                <a:ea typeface="+mj-ea"/>
              </a:rPr>
              <a:t>End to End Decision Making System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200" b="0" i="0" u="none" strike="noStrike" kern="0" cap="none" spc="0" normalizeH="0" baseline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ea"/>
                <a:ea typeface="+mj-ea"/>
              </a:rPr>
              <a:t>Platform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3" name="矩形 58"/>
          <p:cNvSpPr/>
          <p:nvPr/>
        </p:nvSpPr>
        <p:spPr>
          <a:xfrm>
            <a:off x="3242596" y="1903883"/>
            <a:ext cx="1468304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kern="0" noProof="0" dirty="0" smtClean="0">
                <a:solidFill>
                  <a:sysClr val="window" lastClr="FFFFFF"/>
                </a:solidFill>
                <a:latin typeface="+mj-ea"/>
                <a:ea typeface="+mj-ea"/>
              </a:rPr>
              <a:t>Order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4" name="矩形 58"/>
          <p:cNvSpPr/>
          <p:nvPr/>
        </p:nvSpPr>
        <p:spPr>
          <a:xfrm>
            <a:off x="3261360" y="3154066"/>
            <a:ext cx="1468304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kern="0" noProof="0" dirty="0" smtClean="0">
                <a:solidFill>
                  <a:sysClr val="window" lastClr="FFFFFF"/>
                </a:solidFill>
                <a:latin typeface="+mj-ea"/>
                <a:ea typeface="+mj-ea"/>
              </a:rPr>
              <a:t>Production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5" name="矩形 58"/>
          <p:cNvSpPr/>
          <p:nvPr/>
        </p:nvSpPr>
        <p:spPr>
          <a:xfrm>
            <a:off x="3273136" y="4415523"/>
            <a:ext cx="1468304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kern="0" noProof="0" dirty="0" smtClean="0">
                <a:solidFill>
                  <a:sysClr val="window" lastClr="FFFFFF"/>
                </a:solidFill>
                <a:latin typeface="+mj-ea"/>
                <a:ea typeface="+mj-ea"/>
              </a:rPr>
              <a:t>FG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6" name="矩形 58"/>
          <p:cNvSpPr/>
          <p:nvPr/>
        </p:nvSpPr>
        <p:spPr>
          <a:xfrm>
            <a:off x="5124087" y="1878741"/>
            <a:ext cx="4294513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kern="0" noProof="0" dirty="0" smtClean="0">
                <a:solidFill>
                  <a:sysClr val="window" lastClr="FFFFFF"/>
                </a:solidFill>
                <a:latin typeface="+mj-ea"/>
                <a:ea typeface="+mj-ea"/>
              </a:rPr>
              <a:t>Show Order functionalities data in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200" b="0" i="0" u="none" strike="noStrike" kern="0" cap="none" spc="0" normalizeH="0" baseline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ea"/>
                <a:ea typeface="+mj-ea"/>
              </a:rPr>
              <a:t>Pie charts</a:t>
            </a:r>
            <a:r>
              <a:rPr kumimoji="0" lang="en-GB" altLang="zh-CN" sz="1200" b="0" i="0" u="none" strike="noStrike" kern="0" cap="none" spc="0" normalizeH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ea"/>
                <a:ea typeface="+mj-ea"/>
              </a:rPr>
              <a:t> / Bar graphs / Grid view 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7" name="矩形 58"/>
          <p:cNvSpPr/>
          <p:nvPr/>
        </p:nvSpPr>
        <p:spPr>
          <a:xfrm>
            <a:off x="10269391" y="3007550"/>
            <a:ext cx="1468304" cy="89089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ea"/>
                <a:ea typeface="+mj-ea"/>
              </a:rPr>
              <a:t>Whatsapp Communication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8" name="矩形 58"/>
          <p:cNvSpPr/>
          <p:nvPr/>
        </p:nvSpPr>
        <p:spPr>
          <a:xfrm>
            <a:off x="5111543" y="3088009"/>
            <a:ext cx="4287619" cy="597867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Show </a:t>
            </a: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</a:rPr>
              <a:t>Production functionalities </a:t>
            </a: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data in </a:t>
            </a:r>
          </a:p>
          <a:p>
            <a:pPr lvl="0" algn="ctr">
              <a:defRPr/>
            </a:pP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Pie charts / </a:t>
            </a: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</a:rPr>
              <a:t>Bar graphs </a:t>
            </a: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/ Grid view </a:t>
            </a:r>
            <a:endParaRPr lang="zh-CN" altLang="en-US" sz="1200" kern="0" dirty="0">
              <a:solidFill>
                <a:sysClr val="window" lastClr="FFFFFF"/>
              </a:solidFill>
              <a:latin typeface="+mj-ea"/>
            </a:endParaRPr>
          </a:p>
        </p:txBody>
      </p:sp>
      <p:sp>
        <p:nvSpPr>
          <p:cNvPr id="69" name="矩形 58"/>
          <p:cNvSpPr/>
          <p:nvPr/>
        </p:nvSpPr>
        <p:spPr>
          <a:xfrm>
            <a:off x="5155312" y="4367229"/>
            <a:ext cx="4287619" cy="626835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endParaRPr lang="en-GB" altLang="zh-CN" sz="1200" kern="0" dirty="0" smtClean="0">
              <a:solidFill>
                <a:sysClr val="window" lastClr="FFFFFF"/>
              </a:solidFill>
              <a:latin typeface="+mj-ea"/>
            </a:endParaRPr>
          </a:p>
          <a:p>
            <a:pPr lvl="0" algn="ctr">
              <a:defRPr/>
            </a:pP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</a:rPr>
              <a:t>Show FG functionalities </a:t>
            </a: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data in </a:t>
            </a:r>
          </a:p>
          <a:p>
            <a:pPr lvl="0" algn="ctr">
              <a:defRPr/>
            </a:pP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Pie charts / </a:t>
            </a:r>
            <a:r>
              <a:rPr lang="en-GB" altLang="zh-CN" sz="1200" kern="0" dirty="0" smtClean="0">
                <a:solidFill>
                  <a:sysClr val="window" lastClr="FFFFFF"/>
                </a:solidFill>
                <a:latin typeface="+mj-ea"/>
              </a:rPr>
              <a:t>Bar graphs </a:t>
            </a:r>
            <a:r>
              <a:rPr lang="en-GB" altLang="zh-CN" sz="1200" kern="0" dirty="0">
                <a:solidFill>
                  <a:sysClr val="window" lastClr="FFFFFF"/>
                </a:solidFill>
                <a:latin typeface="+mj-ea"/>
              </a:rPr>
              <a:t>/ Grid view </a:t>
            </a:r>
            <a:endParaRPr lang="zh-CN" altLang="en-US" sz="1200" kern="0" dirty="0">
              <a:solidFill>
                <a:sysClr val="window" lastClr="FFFFFF"/>
              </a:solidFill>
              <a:latin typeface="+mj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2856121" y="2120086"/>
            <a:ext cx="386475" cy="165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ight Arrow 69"/>
          <p:cNvSpPr/>
          <p:nvPr/>
        </p:nvSpPr>
        <p:spPr>
          <a:xfrm>
            <a:off x="2856121" y="3318664"/>
            <a:ext cx="386475" cy="165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ight Arrow 70"/>
          <p:cNvSpPr/>
          <p:nvPr/>
        </p:nvSpPr>
        <p:spPr>
          <a:xfrm>
            <a:off x="2870531" y="4663965"/>
            <a:ext cx="386475" cy="165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ight Arrow 71"/>
          <p:cNvSpPr/>
          <p:nvPr/>
        </p:nvSpPr>
        <p:spPr>
          <a:xfrm>
            <a:off x="4724256" y="2108343"/>
            <a:ext cx="386475" cy="165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ight Arrow 72"/>
          <p:cNvSpPr/>
          <p:nvPr/>
        </p:nvSpPr>
        <p:spPr>
          <a:xfrm>
            <a:off x="4738147" y="3330846"/>
            <a:ext cx="386475" cy="165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ight Arrow 73"/>
          <p:cNvSpPr/>
          <p:nvPr/>
        </p:nvSpPr>
        <p:spPr>
          <a:xfrm>
            <a:off x="4755564" y="4620450"/>
            <a:ext cx="386475" cy="165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Elbow Connector 4"/>
          <p:cNvCxnSpPr>
            <a:stCxn id="66" idx="3"/>
            <a:endCxn id="67" idx="0"/>
          </p:cNvCxnSpPr>
          <p:nvPr/>
        </p:nvCxnSpPr>
        <p:spPr>
          <a:xfrm>
            <a:off x="9418600" y="2177675"/>
            <a:ext cx="1584943" cy="829875"/>
          </a:xfrm>
          <a:prstGeom prst="bentConnector2">
            <a:avLst/>
          </a:prstGeom>
          <a:ln>
            <a:solidFill>
              <a:schemeClr val="tx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Elbow Connector 6"/>
          <p:cNvCxnSpPr>
            <a:stCxn id="68" idx="3"/>
            <a:endCxn id="67" idx="1"/>
          </p:cNvCxnSpPr>
          <p:nvPr/>
        </p:nvCxnSpPr>
        <p:spPr>
          <a:xfrm>
            <a:off x="9399162" y="3386943"/>
            <a:ext cx="870229" cy="66056"/>
          </a:xfrm>
          <a:prstGeom prst="bentConnector3">
            <a:avLst/>
          </a:prstGeom>
          <a:ln>
            <a:solidFill>
              <a:schemeClr val="tx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69" idx="3"/>
            <a:endCxn id="67" idx="2"/>
          </p:cNvCxnSpPr>
          <p:nvPr/>
        </p:nvCxnSpPr>
        <p:spPr>
          <a:xfrm flipV="1">
            <a:off x="9442931" y="3898448"/>
            <a:ext cx="1560612" cy="782199"/>
          </a:xfrm>
          <a:prstGeom prst="bentConnector2">
            <a:avLst/>
          </a:prstGeom>
          <a:ln>
            <a:solidFill>
              <a:schemeClr val="tx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73566" y="1508670"/>
            <a:ext cx="9537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Note : Ingests </a:t>
            </a:r>
            <a:r>
              <a:rPr lang="en-GB" sz="1400" dirty="0"/>
              <a:t>data from SAP for 100% accurate data visualization.</a:t>
            </a:r>
            <a:endParaRPr lang="en-IN" sz="1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811050"/>
              </p:ext>
            </p:extLst>
          </p:nvPr>
        </p:nvGraphicFramePr>
        <p:xfrm>
          <a:off x="333829" y="5197324"/>
          <a:ext cx="1140386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644"/>
                <a:gridCol w="1971767"/>
                <a:gridCol w="1829521"/>
                <a:gridCol w="1900644"/>
                <a:gridCol w="1900644"/>
                <a:gridCol w="1900644"/>
              </a:tblGrid>
              <a:tr h="0">
                <a:tc rowSpan="4">
                  <a:txBody>
                    <a:bodyPr/>
                    <a:lstStyle/>
                    <a:p>
                      <a:endParaRPr lang="en-GB" dirty="0" smtClean="0"/>
                    </a:p>
                    <a:p>
                      <a:endParaRPr lang="en-GB" dirty="0" smtClean="0"/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          IT</a:t>
                      </a:r>
                      <a:endParaRPr lang="en-IN" dirty="0" smtClean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Name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Sign-off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Business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Sign-off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Manohar-g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Order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Uday-g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Syamsundar-r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Production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Sailaja-y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Chandrasekhar-v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FG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Kumar-kss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940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5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xmlns="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FF51F16D-1BAD-46EE-A6F4-B8B94C9DF62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240379" y="2336771"/>
            <a:ext cx="5280109" cy="1953042"/>
          </a:xfrm>
        </p:spPr>
        <p:txBody>
          <a:bodyPr>
            <a:normAutofit fontScale="90000"/>
          </a:bodyPr>
          <a:lstStyle/>
          <a:p>
            <a:r>
              <a:rPr lang="en-US" altLang="zh-CN" sz="8000" b="0" dirty="0">
                <a:solidFill>
                  <a:schemeClr val="accent2"/>
                </a:solidFill>
                <a:latin typeface="Impact" panose="020B0806030902050204" pitchFamily="34" charset="0"/>
              </a:rPr>
              <a:t>Thanks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TW" altLang="en-US" sz="2800" dirty="0"/>
              <a:t>態度決定高度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Attitude is altitude</a:t>
            </a:r>
            <a:endParaRPr lang="zh-CN" altLang="en-US" sz="28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B1C99C41-FA3C-4143-91D8-921EA092CD73}"/>
              </a:ext>
            </a:extLst>
          </p:cNvPr>
          <p:cNvCxnSpPr/>
          <p:nvPr/>
        </p:nvCxnSpPr>
        <p:spPr>
          <a:xfrm>
            <a:off x="6240379" y="4771589"/>
            <a:ext cx="4876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9" y="4355759"/>
            <a:ext cx="4844384" cy="4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D4439"/>
      </a:accent1>
      <a:accent2>
        <a:srgbClr val="3C72CF"/>
      </a:accent2>
      <a:accent3>
        <a:srgbClr val="FF6A26"/>
      </a:accent3>
      <a:accent4>
        <a:srgbClr val="969696"/>
      </a:accent4>
      <a:accent5>
        <a:srgbClr val="B2B2B2"/>
      </a:accent5>
      <a:accent6>
        <a:srgbClr val="C5C5C5"/>
      </a:accent6>
      <a:hlink>
        <a:srgbClr val="4C4C4C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9050" cap="flat" cmpd="sng" algn="ctr">
          <a:solidFill>
            <a:srgbClr val="FFFFFF">
              <a:lumMod val="65000"/>
            </a:srgbClr>
          </a:solidFill>
          <a:prstDash val="sysDot"/>
        </a:ln>
        <a:effectLst/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D4439"/>
    </a:accent1>
    <a:accent2>
      <a:srgbClr val="3C72CF"/>
    </a:accent2>
    <a:accent3>
      <a:srgbClr val="FF6A26"/>
    </a:accent3>
    <a:accent4>
      <a:srgbClr val="969696"/>
    </a:accent4>
    <a:accent5>
      <a:srgbClr val="B2B2B2"/>
    </a:accent5>
    <a:accent6>
      <a:srgbClr val="C5C5C5"/>
    </a:accent6>
    <a:hlink>
      <a:srgbClr val="4C4C4C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D4439"/>
    </a:accent1>
    <a:accent2>
      <a:srgbClr val="3C72CF"/>
    </a:accent2>
    <a:accent3>
      <a:srgbClr val="FF6A26"/>
    </a:accent3>
    <a:accent4>
      <a:srgbClr val="969696"/>
    </a:accent4>
    <a:accent5>
      <a:srgbClr val="B2B2B2"/>
    </a:accent5>
    <a:accent6>
      <a:srgbClr val="C5C5C5"/>
    </a:accent6>
    <a:hlink>
      <a:srgbClr val="4C4C4C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20079</TotalTime>
  <Words>459</Words>
  <Application>Microsoft Office PowerPoint</Application>
  <PresentationFormat>Widescreen</PresentationFormat>
  <Paragraphs>136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微软雅黑</vt:lpstr>
      <vt:lpstr>宋体</vt:lpstr>
      <vt:lpstr>SimSun-ExtB</vt:lpstr>
      <vt:lpstr>Arial</vt:lpstr>
      <vt:lpstr>Calibri</vt:lpstr>
      <vt:lpstr>Cambria</vt:lpstr>
      <vt:lpstr>Helvetica Light</vt:lpstr>
      <vt:lpstr>Impact</vt:lpstr>
      <vt:lpstr>inherit</vt:lpstr>
      <vt:lpstr>Segoe UI</vt:lpstr>
      <vt:lpstr>Sitka Banner</vt:lpstr>
      <vt:lpstr>Wingdings</vt:lpstr>
      <vt:lpstr>主题5</vt:lpstr>
      <vt:lpstr>think-cell Slide</vt:lpstr>
      <vt:lpstr>APACHE End to End DMS Project  _蓝图设计 Blueprint Design</vt:lpstr>
      <vt:lpstr>目录 Content</vt:lpstr>
      <vt:lpstr>项目范围 Project Scope</vt:lpstr>
      <vt:lpstr>Cutting Material Management System Flow Chart </vt:lpstr>
      <vt:lpstr>E2E DMS Work-Flow</vt:lpstr>
      <vt:lpstr>系統配置資訊  System configuration Information.</vt:lpstr>
      <vt:lpstr>蓝图签核确认清单 Blueprint Sign-off List </vt:lpstr>
      <vt:lpstr>PowerPoint Presentation</vt:lpstr>
      <vt:lpstr>Thanks 態度決定高度 Attitude is altitude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manohar-g</cp:lastModifiedBy>
  <cp:revision>3446</cp:revision>
  <cp:lastPrinted>2017-11-14T16:00:00Z</cp:lastPrinted>
  <dcterms:created xsi:type="dcterms:W3CDTF">2017-11-14T16:00:00Z</dcterms:created>
  <dcterms:modified xsi:type="dcterms:W3CDTF">2025-09-22T07:28:42Z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