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6"/>
  </p:notesMasterIdLst>
  <p:sldIdLst>
    <p:sldId id="271" r:id="rId2"/>
    <p:sldId id="262" r:id="rId3"/>
    <p:sldId id="256" r:id="rId4"/>
    <p:sldId id="272" r:id="rId5"/>
    <p:sldId id="270" r:id="rId6"/>
    <p:sldId id="266" r:id="rId7"/>
    <p:sldId id="257" r:id="rId8"/>
    <p:sldId id="259" r:id="rId9"/>
    <p:sldId id="268" r:id="rId10"/>
    <p:sldId id="269" r:id="rId11"/>
    <p:sldId id="260" r:id="rId12"/>
    <p:sldId id="261" r:id="rId13"/>
    <p:sldId id="267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4AC6"/>
    <a:srgbClr val="077B33"/>
    <a:srgbClr val="2164EB"/>
    <a:srgbClr val="169BF6"/>
    <a:srgbClr val="168E21"/>
    <a:srgbClr val="3096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AFDA0-27CF-4989-99A4-65C4AAD354B1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B967-F6B5-4905-A2B9-6A4F89240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06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B967-F6B5-4905-A2B9-6A4F8924095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887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0B47-5924-41AD-8326-45131C22CFFC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3F9DD-F697-443D-B494-0C316A51B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70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0B47-5924-41AD-8326-45131C22CFFC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3F9DD-F697-443D-B494-0C316A51B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43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0B47-5924-41AD-8326-45131C22CFFC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3F9DD-F697-443D-B494-0C316A51B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067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0B47-5924-41AD-8326-45131C22CFFC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3F9DD-F697-443D-B494-0C316A51B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45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0B47-5924-41AD-8326-45131C22CFFC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3F9DD-F697-443D-B494-0C316A51B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19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0B47-5924-41AD-8326-45131C22CFFC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3F9DD-F697-443D-B494-0C316A51B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562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0B47-5924-41AD-8326-45131C22CFFC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3F9DD-F697-443D-B494-0C316A51B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75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0B47-5924-41AD-8326-45131C22CFFC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3F9DD-F697-443D-B494-0C316A51B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998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0B47-5924-41AD-8326-45131C22CFFC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3F9DD-F697-443D-B494-0C316A51B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40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0B47-5924-41AD-8326-45131C22CFFC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3F9DD-F697-443D-B494-0C316A51B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785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0B47-5924-41AD-8326-45131C22CFFC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3F9DD-F697-443D-B494-0C316A51B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44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F0B47-5924-41AD-8326-45131C22CFFC}" type="datetimeFigureOut">
              <a:rPr lang="en-IN" smtClean="0"/>
              <a:t>2025/06/19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3F9DD-F697-443D-B494-0C316A51B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hyperlink" Target="http://10.3.0.24:8075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pp.powerbi.com/view?r=eyJrIjoiYTI0NGQwZmQtMmVkNi00OTYwLTkzYzMtOTA4ODVkNWNmZjg0IiwidCI6IjQ4MWExNWMxLTk5OTItNGIyZC05YzdiLTIxMzA2N2Q2MjQ2NCJ9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434" y="1"/>
            <a:ext cx="12192000" cy="6858000"/>
          </a:xfrm>
          <a:prstGeom prst="rect">
            <a:avLst/>
          </a:prstGeom>
          <a:gradFill>
            <a:gsLst>
              <a:gs pos="28000">
                <a:schemeClr val="bg1">
                  <a:lumMod val="85000"/>
                </a:schemeClr>
              </a:gs>
              <a:gs pos="65000">
                <a:schemeClr val="accent1">
                  <a:lumMod val="20000"/>
                  <a:lumOff val="80000"/>
                </a:schemeClr>
              </a:gs>
              <a:gs pos="93000">
                <a:schemeClr val="accent3">
                  <a:lumMod val="20000"/>
                  <a:lumOff val="80000"/>
                </a:schemeClr>
              </a:gs>
            </a:gsLst>
            <a:lin ang="60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5228" y="1"/>
            <a:ext cx="566772" cy="56341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79974" y="4318953"/>
            <a:ext cx="5412026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endParaRPr lang="en-US" sz="2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68800" y="618502"/>
            <a:ext cx="6035751" cy="431214"/>
          </a:xfrm>
          <a:prstGeom prst="roundRect">
            <a:avLst/>
          </a:prstGeom>
          <a:solidFill>
            <a:schemeClr val="accent2">
              <a:lumMod val="50000"/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rgbClr val="FF0000"/>
                </a:solidFill>
              </a:rPr>
              <a:t>Sales order Creation </a:t>
            </a:r>
            <a:r>
              <a:rPr lang="en-GB" sz="1400" dirty="0" smtClean="0">
                <a:solidFill>
                  <a:schemeClr val="tx1"/>
                </a:solidFill>
              </a:rPr>
              <a:t>( Order Team ) VA01 ( Manually ) ZSD001N ( Bulk upload ) 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94918" y="1249862"/>
            <a:ext cx="4993290" cy="426115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Pull </a:t>
            </a:r>
            <a:r>
              <a:rPr lang="en-GB" sz="1400" dirty="0" smtClean="0">
                <a:solidFill>
                  <a:srgbClr val="FF0000"/>
                </a:solidFill>
              </a:rPr>
              <a:t>BOM </a:t>
            </a:r>
            <a:r>
              <a:rPr lang="en-GB" sz="1400" dirty="0" smtClean="0">
                <a:solidFill>
                  <a:schemeClr val="tx1"/>
                </a:solidFill>
              </a:rPr>
              <a:t>(</a:t>
            </a:r>
            <a:r>
              <a:rPr lang="en-GB" sz="1400" dirty="0" smtClean="0">
                <a:solidFill>
                  <a:srgbClr val="FF0000"/>
                </a:solidFill>
              </a:rPr>
              <a:t> </a:t>
            </a:r>
            <a:r>
              <a:rPr lang="en-GB" sz="1400" dirty="0" smtClean="0">
                <a:solidFill>
                  <a:schemeClr val="tx1"/>
                </a:solidFill>
              </a:rPr>
              <a:t>BOM Team ) ZMM123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94918" y="1932137"/>
            <a:ext cx="4993290" cy="407475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Create Collection and </a:t>
            </a:r>
            <a:r>
              <a:rPr lang="en-GB" sz="1400" dirty="0" smtClean="0">
                <a:solidFill>
                  <a:srgbClr val="FF0000"/>
                </a:solidFill>
              </a:rPr>
              <a:t>run </a:t>
            </a:r>
            <a:r>
              <a:rPr lang="en-GB" sz="1400" dirty="0" smtClean="0">
                <a:solidFill>
                  <a:schemeClr val="tx1"/>
                </a:solidFill>
              </a:rPr>
              <a:t>( APE Team )  ZMM018 ,  </a:t>
            </a:r>
            <a:r>
              <a:rPr lang="en-GB" sz="1400" dirty="0">
                <a:solidFill>
                  <a:schemeClr val="tx1"/>
                </a:solidFill>
              </a:rPr>
              <a:t>ZMM019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468800" y="2615051"/>
            <a:ext cx="6035751" cy="434526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Placing Purchase orders with that </a:t>
            </a:r>
            <a:r>
              <a:rPr lang="en-GB" sz="1400" dirty="0" smtClean="0">
                <a:solidFill>
                  <a:srgbClr val="FF0000"/>
                </a:solidFill>
              </a:rPr>
              <a:t>collection </a:t>
            </a:r>
            <a:r>
              <a:rPr lang="en-GB" sz="1400" dirty="0" smtClean="0">
                <a:solidFill>
                  <a:schemeClr val="tx1"/>
                </a:solidFill>
              </a:rPr>
              <a:t>( </a:t>
            </a:r>
            <a:r>
              <a:rPr lang="en-GB" sz="1400" dirty="0">
                <a:solidFill>
                  <a:schemeClr val="tx1"/>
                </a:solidFill>
              </a:rPr>
              <a:t>Purchase </a:t>
            </a:r>
            <a:r>
              <a:rPr lang="en-GB" sz="1400" dirty="0" smtClean="0">
                <a:solidFill>
                  <a:schemeClr val="tx1"/>
                </a:solidFill>
              </a:rPr>
              <a:t>Team ) ZMM020 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687370" y="3325016"/>
            <a:ext cx="3291177" cy="399556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Material received in </a:t>
            </a:r>
            <a:r>
              <a:rPr lang="en-GB" sz="1400" dirty="0" smtClean="0">
                <a:solidFill>
                  <a:srgbClr val="FF0000"/>
                </a:solidFill>
              </a:rPr>
              <a:t>warehouse </a:t>
            </a:r>
            <a:r>
              <a:rPr lang="en-GB" sz="1400" dirty="0" smtClean="0">
                <a:solidFill>
                  <a:schemeClr val="tx1"/>
                </a:solidFill>
              </a:rPr>
              <a:t>( WMS ) 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97871" y="3344363"/>
            <a:ext cx="3688116" cy="364518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Planning </a:t>
            </a:r>
            <a:r>
              <a:rPr lang="en-GB" sz="1400" dirty="0" smtClean="0">
                <a:solidFill>
                  <a:srgbClr val="FF0000"/>
                </a:solidFill>
              </a:rPr>
              <a:t>Schedule </a:t>
            </a:r>
            <a:r>
              <a:rPr lang="en-GB" sz="1400" dirty="0" smtClean="0">
                <a:solidFill>
                  <a:schemeClr val="tx1"/>
                </a:solidFill>
              </a:rPr>
              <a:t>( </a:t>
            </a:r>
            <a:r>
              <a:rPr lang="en-GB" sz="1400" dirty="0">
                <a:solidFill>
                  <a:schemeClr val="tx1"/>
                </a:solidFill>
              </a:rPr>
              <a:t>Planning </a:t>
            </a:r>
            <a:r>
              <a:rPr lang="en-GB" sz="1400" dirty="0" smtClean="0">
                <a:solidFill>
                  <a:schemeClr val="tx1"/>
                </a:solidFill>
              </a:rPr>
              <a:t>Team ) ZPP003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96144" y="3983328"/>
            <a:ext cx="3390837" cy="358551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Fetching </a:t>
            </a:r>
            <a:r>
              <a:rPr lang="en-GB" sz="1400" dirty="0" smtClean="0">
                <a:solidFill>
                  <a:srgbClr val="FF0000"/>
                </a:solidFill>
              </a:rPr>
              <a:t>Generation</a:t>
            </a:r>
            <a:r>
              <a:rPr lang="en-GB" sz="1400" dirty="0" smtClean="0">
                <a:solidFill>
                  <a:schemeClr val="tx1"/>
                </a:solidFill>
              </a:rPr>
              <a:t>( ERP Team ) </a:t>
            </a:r>
            <a:r>
              <a:rPr lang="en-GB" sz="1400" dirty="0">
                <a:solidFill>
                  <a:schemeClr val="tx1"/>
                </a:solidFill>
              </a:rPr>
              <a:t>ZPP005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94918" y="4614064"/>
            <a:ext cx="4996318" cy="377020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Fetching issues ( Raw material issues </a:t>
            </a:r>
            <a:r>
              <a:rPr lang="en-GB" sz="1400" dirty="0" smtClean="0">
                <a:solidFill>
                  <a:srgbClr val="FF0000"/>
                </a:solidFill>
              </a:rPr>
              <a:t>) </a:t>
            </a:r>
            <a:r>
              <a:rPr lang="en-GB" sz="1400" dirty="0" smtClean="0">
                <a:solidFill>
                  <a:schemeClr val="tx1"/>
                </a:solidFill>
              </a:rPr>
              <a:t>( warehouse Team ( WMS )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852677" y="5201550"/>
            <a:ext cx="4996318" cy="557674"/>
          </a:xfrm>
          <a:prstGeom prst="round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rgbClr val="FF0000"/>
                </a:solidFill>
              </a:rPr>
              <a:t>Production</a:t>
            </a:r>
            <a:endParaRPr lang="en-GB" sz="1400" dirty="0">
              <a:solidFill>
                <a:srgbClr val="FF0000"/>
              </a:solidFill>
            </a:endParaRPr>
          </a:p>
          <a:p>
            <a:pPr algn="ctr"/>
            <a:r>
              <a:rPr lang="en-GB" sz="1400" dirty="0">
                <a:solidFill>
                  <a:schemeClr val="tx1"/>
                </a:solidFill>
              </a:rPr>
              <a:t>Cutting </a:t>
            </a:r>
            <a:r>
              <a:rPr lang="en-GB" sz="1400" dirty="0">
                <a:solidFill>
                  <a:schemeClr val="tx1"/>
                </a:solidFill>
                <a:sym typeface="Wingdings" panose="05000000000000000000" pitchFamily="2" charset="2"/>
              </a:rPr>
              <a:t> Stitching  Assembly  </a:t>
            </a:r>
            <a:r>
              <a:rPr lang="en-GB" sz="1400" dirty="0" smtClean="0">
                <a:solidFill>
                  <a:schemeClr val="tx1"/>
                </a:solidFill>
                <a:sym typeface="Wingdings" panose="05000000000000000000" pitchFamily="2" charset="2"/>
              </a:rPr>
              <a:t>Packing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07660" y="5963704"/>
            <a:ext cx="1631723" cy="314037"/>
          </a:xfrm>
          <a:prstGeom prst="roundRect">
            <a:avLst/>
          </a:prstGeom>
          <a:solidFill>
            <a:schemeClr val="accent5">
              <a:alpha val="54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FG Inbound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07659" y="6457285"/>
            <a:ext cx="1631723" cy="314037"/>
          </a:xfrm>
          <a:prstGeom prst="roundRect">
            <a:avLst/>
          </a:prstGeom>
          <a:solidFill>
            <a:schemeClr val="accent4">
              <a:alpha val="54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Shipment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891096" y="104264"/>
            <a:ext cx="8422676" cy="347912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Process flow of a Sales order</a:t>
            </a:r>
            <a:endParaRPr lang="en-IN" b="1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5223520" y="1049716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208290" y="1675977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208290" y="2414905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147570" y="3049577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032895" y="3049577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285857" y="6277741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285857" y="5759224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5296897" y="5001404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308727" y="4349639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6461770" y="3708881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401954" y="3763295"/>
            <a:ext cx="0" cy="2001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84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2000">
                <a:schemeClr val="bg1">
                  <a:lumMod val="75000"/>
                  <a:alpha val="19000"/>
                </a:schemeClr>
              </a:gs>
              <a:gs pos="70000">
                <a:schemeClr val="tx1">
                  <a:alpha val="94000"/>
                  <a:lumMod val="71000"/>
                  <a:lumOff val="29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60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96124" y="2160905"/>
            <a:ext cx="10799752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blipFill>
                  <a:blip r:embed="rId3"/>
                  <a:stretch>
                    <a:fillRect/>
                  </a:stretch>
                </a:blip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END-TO-END </a:t>
            </a:r>
          </a:p>
          <a:p>
            <a:pPr algn="ctr"/>
            <a:r>
              <a:rPr lang="en-US" sz="6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blipFill>
                  <a:blip r:embed="rId3"/>
                  <a:stretch>
                    <a:fillRect/>
                  </a:stretch>
                </a:blip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DECISION MAKING SYSTEM</a:t>
            </a:r>
            <a:endParaRPr lang="en-US" sz="6000" b="1" cap="none" spc="0" dirty="0">
              <a:ln w="9525">
                <a:solidFill>
                  <a:schemeClr val="bg1"/>
                </a:solidFill>
                <a:prstDash val="solid"/>
              </a:ln>
              <a:blipFill>
                <a:blip r:embed="rId3"/>
                <a:stretch>
                  <a:fillRect/>
                </a:stretch>
              </a:blip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5228" y="1"/>
            <a:ext cx="566772" cy="5634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31" y="803367"/>
            <a:ext cx="1928086" cy="155077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117642" y="5923005"/>
            <a:ext cx="2888612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hlinkClick r:id="rId7"/>
              </a:rPr>
              <a:t>http://</a:t>
            </a:r>
            <a:r>
              <a:rPr lang="en-US" sz="20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hlinkClick r:id="rId7"/>
              </a:rPr>
              <a:t>10.3.0.24:8075</a:t>
            </a:r>
            <a:r>
              <a:rPr lang="en-US" sz="20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endParaRPr lang="en-US" sz="2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79974" y="4318953"/>
            <a:ext cx="5412026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Streamlining order to shipment process </a:t>
            </a:r>
            <a:endParaRPr lang="en-US" sz="2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0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chemeClr val="accent1">
                <a:lumMod val="20000"/>
                <a:lumOff val="80000"/>
                <a:alpha val="28000"/>
              </a:schemeClr>
            </a:gs>
            <a:gs pos="40000">
              <a:schemeClr val="bg2"/>
            </a:gs>
            <a:gs pos="58000">
              <a:schemeClr val="tx2">
                <a:lumMod val="20000"/>
                <a:lumOff val="80000"/>
              </a:schemeClr>
            </a:gs>
            <a:gs pos="92000">
              <a:schemeClr val="accent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bg2">
                  <a:lumMod val="75000"/>
                </a:schemeClr>
              </a:gs>
              <a:gs pos="50000">
                <a:schemeClr val="tx1">
                  <a:alpha val="67000"/>
                </a:schemeClr>
              </a:gs>
              <a:gs pos="78000">
                <a:schemeClr val="bg1">
                  <a:lumMod val="75000"/>
                  <a:alpha val="57000"/>
                </a:schemeClr>
              </a:gs>
              <a:gs pos="100000">
                <a:schemeClr val="bg1">
                  <a:lumMod val="86000"/>
                  <a:alpha val="6000"/>
                </a:schemeClr>
              </a:gs>
              <a:gs pos="90000">
                <a:schemeClr val="bg2">
                  <a:alpha val="63000"/>
                  <a:lumMod val="82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3101671" y="100603"/>
            <a:ext cx="53635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160">
                  <a:solidFill>
                    <a:srgbClr val="FF0000"/>
                  </a:solidFill>
                  <a:prstDash val="solid"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END-TO-END DECISION MAKING SYSTEM</a:t>
            </a:r>
            <a:endParaRPr lang="en-US" sz="2400" b="1" dirty="0">
              <a:ln w="10160">
                <a:solidFill>
                  <a:srgbClr val="FF0000"/>
                </a:solidFill>
                <a:prstDash val="solid"/>
              </a:ln>
              <a:solidFill>
                <a:schemeClr val="accent6">
                  <a:lumMod val="40000"/>
                  <a:lumOff val="6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11" y="109738"/>
            <a:ext cx="555014" cy="55501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19" y="-27421"/>
            <a:ext cx="802092" cy="7177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29907" y="32292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Rounded Rectangle 1"/>
          <p:cNvSpPr/>
          <p:nvPr/>
        </p:nvSpPr>
        <p:spPr>
          <a:xfrm>
            <a:off x="530765" y="922804"/>
            <a:ext cx="1751116" cy="269896"/>
          </a:xfrm>
          <a:prstGeom prst="roundRect">
            <a:avLst/>
          </a:prstGeom>
          <a:solidFill>
            <a:schemeClr val="accent3">
              <a:alpha val="49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Project Scope</a:t>
            </a:r>
            <a:endParaRPr lang="en-IN" sz="1400" dirty="0"/>
          </a:p>
        </p:txBody>
      </p:sp>
      <p:sp>
        <p:nvSpPr>
          <p:cNvPr id="3" name="Rounded Rectangle 2"/>
          <p:cNvSpPr/>
          <p:nvPr/>
        </p:nvSpPr>
        <p:spPr>
          <a:xfrm>
            <a:off x="530765" y="3050834"/>
            <a:ext cx="1751116" cy="260777"/>
          </a:xfrm>
          <a:prstGeom prst="roundRect">
            <a:avLst/>
          </a:prstGeom>
          <a:solidFill>
            <a:schemeClr val="accent3">
              <a:alpha val="47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Purpose </a:t>
            </a:r>
            <a:endParaRPr lang="en-IN" sz="1400" dirty="0"/>
          </a:p>
        </p:txBody>
      </p:sp>
      <p:sp>
        <p:nvSpPr>
          <p:cNvPr id="5" name="Rounded Rectangle 4"/>
          <p:cNvSpPr/>
          <p:nvPr/>
        </p:nvSpPr>
        <p:spPr>
          <a:xfrm>
            <a:off x="530765" y="1218817"/>
            <a:ext cx="11425382" cy="1780712"/>
          </a:xfrm>
          <a:prstGeom prst="roundRect">
            <a:avLst/>
          </a:prstGeom>
          <a:solidFill>
            <a:schemeClr val="tx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Covers the full life cycle of an order</a:t>
            </a:r>
          </a:p>
          <a:p>
            <a:pPr algn="ctr"/>
            <a:endParaRPr lang="en-GB" sz="1400" dirty="0" smtClean="0"/>
          </a:p>
          <a:p>
            <a:pPr eaLnBrk="0" fontAlgn="base" hangingPunct="0"/>
            <a:r>
              <a:rPr lang="en-US" sz="1400" b="1" dirty="0"/>
              <a:t>Order Management</a:t>
            </a:r>
            <a:r>
              <a:rPr lang="en-US" sz="1400" dirty="0"/>
              <a:t> – Capturing customer orders and specifications</a:t>
            </a:r>
            <a:endParaRPr lang="en-IN" sz="1400" dirty="0"/>
          </a:p>
          <a:p>
            <a:pPr eaLnBrk="0" fontAlgn="base" hangingPunct="0"/>
            <a:r>
              <a:rPr lang="en-US" sz="1400" b="1" dirty="0"/>
              <a:t>Purchase Process</a:t>
            </a:r>
            <a:r>
              <a:rPr lang="en-US" sz="1400" dirty="0"/>
              <a:t> – Tracking raw material procurement</a:t>
            </a:r>
            <a:endParaRPr lang="en-IN" sz="1400" dirty="0"/>
          </a:p>
          <a:p>
            <a:pPr eaLnBrk="0" fontAlgn="base" hangingPunct="0"/>
            <a:r>
              <a:rPr lang="en-US" sz="1400" b="1" dirty="0"/>
              <a:t>Warehouse Management</a:t>
            </a:r>
            <a:r>
              <a:rPr lang="en-US" sz="1400" dirty="0"/>
              <a:t> – Inventory and raw material stock updates</a:t>
            </a:r>
            <a:endParaRPr lang="en-IN" sz="1400" dirty="0"/>
          </a:p>
          <a:p>
            <a:pPr eaLnBrk="0" fontAlgn="base" hangingPunct="0"/>
            <a:r>
              <a:rPr lang="en-US" sz="1400" b="1" dirty="0"/>
              <a:t>Production Monitoring</a:t>
            </a:r>
            <a:r>
              <a:rPr lang="en-US" sz="1400" dirty="0"/>
              <a:t> – Real-time tracking of manufacturing processes</a:t>
            </a:r>
            <a:endParaRPr lang="en-IN" sz="1400" dirty="0"/>
          </a:p>
          <a:p>
            <a:pPr eaLnBrk="0" fontAlgn="base" hangingPunct="0"/>
            <a:r>
              <a:rPr lang="en-US" sz="1400" b="1" dirty="0"/>
              <a:t>Finished Goods Tracking</a:t>
            </a:r>
            <a:r>
              <a:rPr lang="en-US" sz="1400" dirty="0"/>
              <a:t> – Monitoring output and quality metrics</a:t>
            </a:r>
            <a:endParaRPr lang="en-IN" sz="1400" dirty="0"/>
          </a:p>
          <a:p>
            <a:pPr eaLnBrk="0" fontAlgn="base" hangingPunct="0"/>
            <a:r>
              <a:rPr lang="en-US" sz="1400" b="1" dirty="0" smtClean="0"/>
              <a:t>Shipment </a:t>
            </a:r>
            <a:r>
              <a:rPr lang="en-US" sz="1400" dirty="0" smtClean="0"/>
              <a:t> </a:t>
            </a:r>
            <a:r>
              <a:rPr lang="en-US" sz="1400" dirty="0"/>
              <a:t>– Logistics tracking and order </a:t>
            </a:r>
            <a:r>
              <a:rPr lang="en-US" sz="1400" dirty="0" smtClean="0"/>
              <a:t>dispatch</a:t>
            </a:r>
            <a:endParaRPr lang="en-IN" sz="1400" dirty="0"/>
          </a:p>
        </p:txBody>
      </p:sp>
      <p:sp>
        <p:nvSpPr>
          <p:cNvPr id="33" name="Rounded Rectangle 32"/>
          <p:cNvSpPr/>
          <p:nvPr/>
        </p:nvSpPr>
        <p:spPr>
          <a:xfrm>
            <a:off x="662571" y="3410949"/>
            <a:ext cx="11425382" cy="305856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To provide a centralized, data-driven platform for making accurate and timely business decisions across the production lifecycle.</a:t>
            </a:r>
            <a:endParaRPr lang="en-GB" sz="1400" dirty="0" smtClean="0"/>
          </a:p>
        </p:txBody>
      </p:sp>
      <p:sp>
        <p:nvSpPr>
          <p:cNvPr id="11" name="Rounded Rectangle 10"/>
          <p:cNvSpPr/>
          <p:nvPr/>
        </p:nvSpPr>
        <p:spPr>
          <a:xfrm>
            <a:off x="530766" y="3763494"/>
            <a:ext cx="1751116" cy="248333"/>
          </a:xfrm>
          <a:prstGeom prst="roundRect">
            <a:avLst/>
          </a:prstGeom>
          <a:solidFill>
            <a:schemeClr val="accent3">
              <a:alpha val="49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Key benefits</a:t>
            </a:r>
            <a:endParaRPr lang="en-IN" sz="1400" dirty="0"/>
          </a:p>
        </p:txBody>
      </p:sp>
      <p:sp>
        <p:nvSpPr>
          <p:cNvPr id="12" name="Rectangle 11"/>
          <p:cNvSpPr/>
          <p:nvPr/>
        </p:nvSpPr>
        <p:spPr>
          <a:xfrm>
            <a:off x="662571" y="4084665"/>
            <a:ext cx="11425382" cy="1037968"/>
          </a:xfrm>
          <a:prstGeom prst="rect">
            <a:avLst/>
          </a:prstGeom>
          <a:solidFill>
            <a:schemeClr val="tx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Improved cross-functional visibility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Faster and data-driven decisions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Reduced lead time and costs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Better customer satisfaction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765" y="5220597"/>
            <a:ext cx="2570906" cy="269896"/>
          </a:xfrm>
          <a:prstGeom prst="roundRect">
            <a:avLst/>
          </a:prstGeom>
          <a:solidFill>
            <a:schemeClr val="accent3">
              <a:alpha val="49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Execution Departments involved</a:t>
            </a:r>
            <a:endParaRPr lang="en-IN" sz="1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828704"/>
              </p:ext>
            </p:extLst>
          </p:nvPr>
        </p:nvGraphicFramePr>
        <p:xfrm>
          <a:off x="662571" y="5546258"/>
          <a:ext cx="10952780" cy="945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3709"/>
                <a:gridCol w="6539071"/>
              </a:tblGrid>
              <a:tr h="33555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Department 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Purpose</a:t>
                      </a:r>
                      <a:endParaRPr lang="en-IN" sz="1400" dirty="0"/>
                    </a:p>
                  </a:txBody>
                  <a:tcPr/>
                </a:tc>
              </a:tr>
              <a:tr h="298544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Planning Department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Used to check</a:t>
                      </a:r>
                      <a:r>
                        <a:rPr lang="en-GB" sz="1400" baseline="0" dirty="0" smtClean="0"/>
                        <a:t> material Availability and Cutting stop lines</a:t>
                      </a:r>
                      <a:endParaRPr lang="en-IN" sz="1400" dirty="0"/>
                    </a:p>
                  </a:txBody>
                  <a:tcPr/>
                </a:tc>
              </a:tr>
              <a:tr h="298544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Production Department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Used to check</a:t>
                      </a:r>
                      <a:r>
                        <a:rPr lang="en-GB" sz="1400" baseline="0" dirty="0" smtClean="0"/>
                        <a:t> production Output quantities and PO completion and PO current status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15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8000">
                <a:schemeClr val="bg1">
                  <a:lumMod val="85000"/>
                </a:schemeClr>
              </a:gs>
              <a:gs pos="65000">
                <a:schemeClr val="accent1">
                  <a:lumMod val="20000"/>
                  <a:lumOff val="80000"/>
                </a:schemeClr>
              </a:gs>
              <a:gs pos="93000">
                <a:schemeClr val="accent3">
                  <a:lumMod val="20000"/>
                  <a:lumOff val="80000"/>
                </a:schemeClr>
              </a:gs>
            </a:gsLst>
            <a:lin ang="60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5228" y="1"/>
            <a:ext cx="566772" cy="56341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79974" y="4318953"/>
            <a:ext cx="5412026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endParaRPr lang="en-US" sz="2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03654" y="354227"/>
            <a:ext cx="6911546" cy="280087"/>
          </a:xfrm>
          <a:prstGeom prst="roundRect">
            <a:avLst/>
          </a:prstGeom>
          <a:solidFill>
            <a:schemeClr val="accent4">
              <a:alpha val="4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Purchase Order Creation &amp; Approval Process using ZMM020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56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chemeClr val="accent1">
                <a:lumMod val="20000"/>
                <a:lumOff val="80000"/>
              </a:schemeClr>
            </a:gs>
            <a:gs pos="40000">
              <a:schemeClr val="bg2"/>
            </a:gs>
            <a:gs pos="58000">
              <a:schemeClr val="tx2">
                <a:lumMod val="20000"/>
                <a:lumOff val="80000"/>
              </a:schemeClr>
            </a:gs>
            <a:gs pos="92000">
              <a:schemeClr val="accent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bg2">
                  <a:lumMod val="75000"/>
                </a:schemeClr>
              </a:gs>
              <a:gs pos="50000">
                <a:schemeClr val="tx1">
                  <a:alpha val="67000"/>
                </a:schemeClr>
              </a:gs>
              <a:gs pos="78000">
                <a:schemeClr val="bg1">
                  <a:lumMod val="75000"/>
                  <a:alpha val="57000"/>
                </a:schemeClr>
              </a:gs>
              <a:gs pos="100000">
                <a:schemeClr val="bg1">
                  <a:lumMod val="86000"/>
                  <a:alpha val="6000"/>
                </a:schemeClr>
              </a:gs>
              <a:gs pos="90000">
                <a:schemeClr val="bg2">
                  <a:alpha val="63000"/>
                  <a:lumMod val="82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2085752" y="100603"/>
            <a:ext cx="739535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160">
                  <a:solidFill>
                    <a:srgbClr val="FF0000"/>
                  </a:solidFill>
                  <a:prstDash val="solid"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END-TO-END DECISION MAKING SYSTEM PROCESS FLOW</a:t>
            </a:r>
            <a:endParaRPr lang="en-US" sz="2400" b="1" dirty="0">
              <a:ln w="10160">
                <a:solidFill>
                  <a:srgbClr val="FF0000"/>
                </a:solidFill>
                <a:prstDash val="solid"/>
              </a:ln>
              <a:solidFill>
                <a:schemeClr val="accent6">
                  <a:lumMod val="40000"/>
                  <a:lumOff val="6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11" y="109738"/>
            <a:ext cx="555014" cy="55501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19" y="-27421"/>
            <a:ext cx="802092" cy="717712"/>
          </a:xfrm>
          <a:prstGeom prst="rect">
            <a:avLst/>
          </a:prstGeom>
        </p:spPr>
      </p:pic>
      <p:sp>
        <p:nvSpPr>
          <p:cNvPr id="27" name="Freeform 147">
            <a:extLst>
              <a:ext uri="{FF2B5EF4-FFF2-40B4-BE49-F238E27FC236}">
                <a16:creationId xmlns="" xmlns:a16="http://schemas.microsoft.com/office/drawing/2014/main" id="{2E44AB12-05E3-4AA7-827B-DD05D0CEFC9B}"/>
              </a:ext>
            </a:extLst>
          </p:cNvPr>
          <p:cNvSpPr>
            <a:spLocks/>
          </p:cNvSpPr>
          <p:nvPr/>
        </p:nvSpPr>
        <p:spPr bwMode="auto">
          <a:xfrm rot="209315" flipH="1">
            <a:off x="2911639" y="953500"/>
            <a:ext cx="2266725" cy="1391882"/>
          </a:xfrm>
          <a:custGeom>
            <a:avLst/>
            <a:gdLst/>
            <a:ahLst/>
            <a:cxnLst>
              <a:cxn ang="0">
                <a:pos x="112" y="28"/>
              </a:cxn>
              <a:cxn ang="0">
                <a:pos x="109" y="28"/>
              </a:cxn>
              <a:cxn ang="0">
                <a:pos x="109" y="0"/>
              </a:cxn>
              <a:cxn ang="0">
                <a:pos x="78" y="29"/>
              </a:cxn>
              <a:cxn ang="0">
                <a:pos x="0" y="103"/>
              </a:cxn>
              <a:cxn ang="0">
                <a:pos x="72" y="173"/>
              </a:cxn>
              <a:cxn ang="0">
                <a:pos x="109" y="208"/>
              </a:cxn>
              <a:cxn ang="0">
                <a:pos x="109" y="171"/>
              </a:cxn>
              <a:cxn ang="0">
                <a:pos x="109" y="171"/>
              </a:cxn>
              <a:cxn ang="0">
                <a:pos x="307" y="268"/>
              </a:cxn>
              <a:cxn ang="0">
                <a:pos x="329" y="170"/>
              </a:cxn>
              <a:cxn ang="0">
                <a:pos x="433" y="199"/>
              </a:cxn>
              <a:cxn ang="0">
                <a:pos x="112" y="28"/>
              </a:cxn>
            </a:cxnLst>
            <a:rect l="0" t="0" r="r" b="b"/>
            <a:pathLst>
              <a:path w="433" h="268">
                <a:moveTo>
                  <a:pt x="112" y="28"/>
                </a:moveTo>
                <a:cubicBezTo>
                  <a:pt x="111" y="28"/>
                  <a:pt x="110" y="28"/>
                  <a:pt x="109" y="28"/>
                </a:cubicBezTo>
                <a:cubicBezTo>
                  <a:pt x="109" y="0"/>
                  <a:pt x="109" y="0"/>
                  <a:pt x="109" y="0"/>
                </a:cubicBezTo>
                <a:cubicBezTo>
                  <a:pt x="78" y="29"/>
                  <a:pt x="78" y="29"/>
                  <a:pt x="78" y="29"/>
                </a:cubicBezTo>
                <a:cubicBezTo>
                  <a:pt x="0" y="103"/>
                  <a:pt x="0" y="103"/>
                  <a:pt x="0" y="103"/>
                </a:cubicBezTo>
                <a:cubicBezTo>
                  <a:pt x="72" y="173"/>
                  <a:pt x="72" y="173"/>
                  <a:pt x="72" y="173"/>
                </a:cubicBezTo>
                <a:cubicBezTo>
                  <a:pt x="109" y="208"/>
                  <a:pt x="109" y="208"/>
                  <a:pt x="109" y="208"/>
                </a:cubicBezTo>
                <a:cubicBezTo>
                  <a:pt x="109" y="171"/>
                  <a:pt x="109" y="171"/>
                  <a:pt x="109" y="171"/>
                </a:cubicBezTo>
                <a:cubicBezTo>
                  <a:pt x="109" y="171"/>
                  <a:pt x="109" y="171"/>
                  <a:pt x="109" y="171"/>
                </a:cubicBezTo>
                <a:cubicBezTo>
                  <a:pt x="190" y="172"/>
                  <a:pt x="261" y="210"/>
                  <a:pt x="307" y="268"/>
                </a:cubicBezTo>
                <a:cubicBezTo>
                  <a:pt x="329" y="170"/>
                  <a:pt x="329" y="170"/>
                  <a:pt x="329" y="170"/>
                </a:cubicBezTo>
                <a:cubicBezTo>
                  <a:pt x="433" y="199"/>
                  <a:pt x="433" y="199"/>
                  <a:pt x="433" y="199"/>
                </a:cubicBezTo>
                <a:cubicBezTo>
                  <a:pt x="362" y="98"/>
                  <a:pt x="245" y="30"/>
                  <a:pt x="112" y="28"/>
                </a:cubicBezTo>
                <a:close/>
              </a:path>
            </a:pathLst>
          </a:cu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Freeform 148">
            <a:extLst>
              <a:ext uri="{FF2B5EF4-FFF2-40B4-BE49-F238E27FC236}">
                <a16:creationId xmlns="" xmlns:a16="http://schemas.microsoft.com/office/drawing/2014/main" id="{CF69CACD-335E-4652-85C7-B54C9BD85C18}"/>
              </a:ext>
            </a:extLst>
          </p:cNvPr>
          <p:cNvSpPr>
            <a:spLocks/>
          </p:cNvSpPr>
          <p:nvPr/>
        </p:nvSpPr>
        <p:spPr bwMode="auto">
          <a:xfrm flipH="1">
            <a:off x="4452902" y="4047158"/>
            <a:ext cx="1996146" cy="1468557"/>
          </a:xfrm>
          <a:custGeom>
            <a:avLst/>
            <a:gdLst/>
            <a:ahLst/>
            <a:cxnLst>
              <a:cxn ang="0">
                <a:pos x="361" y="95"/>
              </a:cxn>
              <a:cxn ang="0">
                <a:pos x="325" y="60"/>
              </a:cxn>
              <a:cxn ang="0">
                <a:pos x="325" y="97"/>
              </a:cxn>
              <a:cxn ang="0">
                <a:pos x="324" y="97"/>
              </a:cxn>
              <a:cxn ang="0">
                <a:pos x="126" y="0"/>
              </a:cxn>
              <a:cxn ang="0">
                <a:pos x="104" y="98"/>
              </a:cxn>
              <a:cxn ang="0">
                <a:pos x="0" y="69"/>
              </a:cxn>
              <a:cxn ang="0">
                <a:pos x="321" y="240"/>
              </a:cxn>
              <a:cxn ang="0">
                <a:pos x="324" y="240"/>
              </a:cxn>
              <a:cxn ang="0">
                <a:pos x="324" y="269"/>
              </a:cxn>
              <a:cxn ang="0">
                <a:pos x="355" y="239"/>
              </a:cxn>
              <a:cxn ang="0">
                <a:pos x="434" y="165"/>
              </a:cxn>
              <a:cxn ang="0">
                <a:pos x="361" y="95"/>
              </a:cxn>
            </a:cxnLst>
            <a:rect l="0" t="0" r="r" b="b"/>
            <a:pathLst>
              <a:path w="434" h="269">
                <a:moveTo>
                  <a:pt x="361" y="95"/>
                </a:moveTo>
                <a:cubicBezTo>
                  <a:pt x="325" y="60"/>
                  <a:pt x="325" y="60"/>
                  <a:pt x="325" y="60"/>
                </a:cubicBezTo>
                <a:cubicBezTo>
                  <a:pt x="325" y="97"/>
                  <a:pt x="325" y="97"/>
                  <a:pt x="325" y="97"/>
                </a:cubicBezTo>
                <a:cubicBezTo>
                  <a:pt x="324" y="97"/>
                  <a:pt x="324" y="97"/>
                  <a:pt x="324" y="97"/>
                </a:cubicBezTo>
                <a:cubicBezTo>
                  <a:pt x="244" y="96"/>
                  <a:pt x="173" y="58"/>
                  <a:pt x="126" y="0"/>
                </a:cubicBezTo>
                <a:cubicBezTo>
                  <a:pt x="104" y="98"/>
                  <a:pt x="104" y="98"/>
                  <a:pt x="104" y="98"/>
                </a:cubicBezTo>
                <a:cubicBezTo>
                  <a:pt x="0" y="69"/>
                  <a:pt x="0" y="69"/>
                  <a:pt x="0" y="69"/>
                </a:cubicBezTo>
                <a:cubicBezTo>
                  <a:pt x="71" y="171"/>
                  <a:pt x="188" y="238"/>
                  <a:pt x="321" y="240"/>
                </a:cubicBezTo>
                <a:cubicBezTo>
                  <a:pt x="322" y="240"/>
                  <a:pt x="323" y="240"/>
                  <a:pt x="324" y="240"/>
                </a:cubicBezTo>
                <a:cubicBezTo>
                  <a:pt x="324" y="269"/>
                  <a:pt x="324" y="269"/>
                  <a:pt x="324" y="269"/>
                </a:cubicBezTo>
                <a:cubicBezTo>
                  <a:pt x="355" y="239"/>
                  <a:pt x="355" y="239"/>
                  <a:pt x="355" y="239"/>
                </a:cubicBezTo>
                <a:cubicBezTo>
                  <a:pt x="434" y="165"/>
                  <a:pt x="434" y="165"/>
                  <a:pt x="434" y="165"/>
                </a:cubicBezTo>
                <a:lnTo>
                  <a:pt x="361" y="95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43000">
                <a:schemeClr val="accent2">
                  <a:lumMod val="60000"/>
                  <a:lumOff val="40000"/>
                </a:schemeClr>
              </a:gs>
              <a:gs pos="87000">
                <a:srgbClr val="FFC000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Freeform 149">
            <a:extLst>
              <a:ext uri="{FF2B5EF4-FFF2-40B4-BE49-F238E27FC236}">
                <a16:creationId xmlns="" xmlns:a16="http://schemas.microsoft.com/office/drawing/2014/main" id="{151A0E46-FC31-4B21-879D-B0D6178F5B98}"/>
              </a:ext>
            </a:extLst>
          </p:cNvPr>
          <p:cNvSpPr>
            <a:spLocks/>
          </p:cNvSpPr>
          <p:nvPr/>
        </p:nvSpPr>
        <p:spPr bwMode="auto">
          <a:xfrm flipH="1">
            <a:off x="4949208" y="1171189"/>
            <a:ext cx="1857991" cy="1533684"/>
          </a:xfrm>
          <a:custGeom>
            <a:avLst/>
            <a:gdLst/>
            <a:ahLst/>
            <a:cxnLst>
              <a:cxn ang="0">
                <a:pos x="350" y="0"/>
              </a:cxn>
              <a:cxn ang="0">
                <a:pos x="25" y="207"/>
              </a:cxn>
              <a:cxn ang="0">
                <a:pos x="0" y="194"/>
              </a:cxn>
              <a:cxn ang="0">
                <a:pos x="11" y="235"/>
              </a:cxn>
              <a:cxn ang="0">
                <a:pos x="39" y="339"/>
              </a:cxn>
              <a:cxn ang="0">
                <a:pos x="135" y="308"/>
              </a:cxn>
              <a:cxn ang="0">
                <a:pos x="183" y="292"/>
              </a:cxn>
              <a:cxn ang="0">
                <a:pos x="150" y="275"/>
              </a:cxn>
              <a:cxn ang="0">
                <a:pos x="344" y="144"/>
              </a:cxn>
              <a:cxn ang="0">
                <a:pos x="272" y="74"/>
              </a:cxn>
              <a:cxn ang="0">
                <a:pos x="350" y="0"/>
              </a:cxn>
            </a:cxnLst>
            <a:rect l="0" t="0" r="r" b="b"/>
            <a:pathLst>
              <a:path w="350" h="339">
                <a:moveTo>
                  <a:pt x="350" y="0"/>
                </a:moveTo>
                <a:cubicBezTo>
                  <a:pt x="210" y="9"/>
                  <a:pt x="89" y="90"/>
                  <a:pt x="25" y="207"/>
                </a:cubicBezTo>
                <a:cubicBezTo>
                  <a:pt x="0" y="194"/>
                  <a:pt x="0" y="194"/>
                  <a:pt x="0" y="194"/>
                </a:cubicBezTo>
                <a:cubicBezTo>
                  <a:pt x="11" y="235"/>
                  <a:pt x="11" y="235"/>
                  <a:pt x="11" y="235"/>
                </a:cubicBezTo>
                <a:cubicBezTo>
                  <a:pt x="39" y="339"/>
                  <a:pt x="39" y="339"/>
                  <a:pt x="39" y="339"/>
                </a:cubicBezTo>
                <a:cubicBezTo>
                  <a:pt x="135" y="308"/>
                  <a:pt x="135" y="308"/>
                  <a:pt x="135" y="308"/>
                </a:cubicBezTo>
                <a:cubicBezTo>
                  <a:pt x="183" y="292"/>
                  <a:pt x="183" y="292"/>
                  <a:pt x="183" y="292"/>
                </a:cubicBezTo>
                <a:cubicBezTo>
                  <a:pt x="150" y="275"/>
                  <a:pt x="150" y="275"/>
                  <a:pt x="150" y="275"/>
                </a:cubicBezTo>
                <a:cubicBezTo>
                  <a:pt x="190" y="204"/>
                  <a:pt x="261" y="154"/>
                  <a:pt x="344" y="144"/>
                </a:cubicBezTo>
                <a:cubicBezTo>
                  <a:pt x="272" y="74"/>
                  <a:pt x="272" y="74"/>
                  <a:pt x="272" y="74"/>
                </a:cubicBezTo>
                <a:lnTo>
                  <a:pt x="350" y="0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ArchUp">
              <a:avLst/>
            </a:prstTxWarp>
            <a:normAutofit/>
          </a:bodyPr>
          <a:lstStyle/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Freeform 150">
            <a:extLst>
              <a:ext uri="{FF2B5EF4-FFF2-40B4-BE49-F238E27FC236}">
                <a16:creationId xmlns="" xmlns:a16="http://schemas.microsoft.com/office/drawing/2014/main" id="{3BDE2FB1-8EE2-48FD-B7DB-344A1FBC545B}"/>
              </a:ext>
            </a:extLst>
          </p:cNvPr>
          <p:cNvSpPr>
            <a:spLocks/>
          </p:cNvSpPr>
          <p:nvPr/>
        </p:nvSpPr>
        <p:spPr bwMode="auto">
          <a:xfrm flipH="1">
            <a:off x="2616589" y="3621391"/>
            <a:ext cx="1891764" cy="1653570"/>
          </a:xfrm>
          <a:custGeom>
            <a:avLst/>
            <a:gdLst/>
            <a:ahLst/>
            <a:cxnLst>
              <a:cxn ang="0">
                <a:pos x="340" y="104"/>
              </a:cxn>
              <a:cxn ang="0">
                <a:pos x="311" y="0"/>
              </a:cxn>
              <a:cxn ang="0">
                <a:pos x="216" y="31"/>
              </a:cxn>
              <a:cxn ang="0">
                <a:pos x="168" y="47"/>
              </a:cxn>
              <a:cxn ang="0">
                <a:pos x="200" y="64"/>
              </a:cxn>
              <a:cxn ang="0">
                <a:pos x="6" y="195"/>
              </a:cxn>
              <a:cxn ang="0">
                <a:pos x="79" y="265"/>
              </a:cxn>
              <a:cxn ang="0">
                <a:pos x="0" y="339"/>
              </a:cxn>
              <a:cxn ang="0">
                <a:pos x="326" y="132"/>
              </a:cxn>
              <a:cxn ang="0">
                <a:pos x="351" y="145"/>
              </a:cxn>
              <a:cxn ang="0">
                <a:pos x="340" y="104"/>
              </a:cxn>
            </a:cxnLst>
            <a:rect l="0" t="0" r="r" b="b"/>
            <a:pathLst>
              <a:path w="351" h="339">
                <a:moveTo>
                  <a:pt x="340" y="104"/>
                </a:moveTo>
                <a:cubicBezTo>
                  <a:pt x="311" y="0"/>
                  <a:pt x="311" y="0"/>
                  <a:pt x="311" y="0"/>
                </a:cubicBezTo>
                <a:cubicBezTo>
                  <a:pt x="216" y="31"/>
                  <a:pt x="216" y="31"/>
                  <a:pt x="216" y="31"/>
                </a:cubicBezTo>
                <a:cubicBezTo>
                  <a:pt x="168" y="47"/>
                  <a:pt x="168" y="47"/>
                  <a:pt x="168" y="47"/>
                </a:cubicBezTo>
                <a:cubicBezTo>
                  <a:pt x="200" y="64"/>
                  <a:pt x="200" y="64"/>
                  <a:pt x="200" y="64"/>
                </a:cubicBezTo>
                <a:cubicBezTo>
                  <a:pt x="161" y="135"/>
                  <a:pt x="89" y="185"/>
                  <a:pt x="6" y="195"/>
                </a:cubicBezTo>
                <a:cubicBezTo>
                  <a:pt x="79" y="265"/>
                  <a:pt x="79" y="265"/>
                  <a:pt x="79" y="265"/>
                </a:cubicBezTo>
                <a:cubicBezTo>
                  <a:pt x="0" y="339"/>
                  <a:pt x="0" y="339"/>
                  <a:pt x="0" y="339"/>
                </a:cubicBezTo>
                <a:cubicBezTo>
                  <a:pt x="140" y="330"/>
                  <a:pt x="261" y="249"/>
                  <a:pt x="326" y="132"/>
                </a:cubicBezTo>
                <a:cubicBezTo>
                  <a:pt x="351" y="145"/>
                  <a:pt x="351" y="145"/>
                  <a:pt x="351" y="145"/>
                </a:cubicBezTo>
                <a:cubicBezTo>
                  <a:pt x="340" y="104"/>
                  <a:pt x="340" y="104"/>
                  <a:pt x="340" y="104"/>
                </a:cubicBezTo>
              </a:path>
            </a:pathLst>
          </a:cu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Freeform 151">
            <a:extLst>
              <a:ext uri="{FF2B5EF4-FFF2-40B4-BE49-F238E27FC236}">
                <a16:creationId xmlns="" xmlns:a16="http://schemas.microsoft.com/office/drawing/2014/main" id="{B655DA0E-76BD-4491-A7CA-3D0E0B1C4160}"/>
              </a:ext>
            </a:extLst>
          </p:cNvPr>
          <p:cNvSpPr>
            <a:spLocks/>
          </p:cNvSpPr>
          <p:nvPr/>
        </p:nvSpPr>
        <p:spPr bwMode="auto">
          <a:xfrm flipH="1">
            <a:off x="5933934" y="2383548"/>
            <a:ext cx="1041846" cy="2030961"/>
          </a:xfrm>
          <a:custGeom>
            <a:avLst/>
            <a:gdLst/>
            <a:ahLst/>
            <a:cxnLst>
              <a:cxn ang="0">
                <a:pos x="179" y="297"/>
              </a:cxn>
              <a:cxn ang="0">
                <a:pos x="144" y="161"/>
              </a:cxn>
              <a:cxn ang="0">
                <a:pos x="161" y="73"/>
              </a:cxn>
              <a:cxn ang="0">
                <a:pos x="65" y="104"/>
              </a:cxn>
              <a:cxn ang="0">
                <a:pos x="37" y="0"/>
              </a:cxn>
              <a:cxn ang="0">
                <a:pos x="1" y="158"/>
              </a:cxn>
              <a:cxn ang="0">
                <a:pos x="57" y="370"/>
              </a:cxn>
              <a:cxn ang="0">
                <a:pos x="33" y="385"/>
              </a:cxn>
              <a:cxn ang="0">
                <a:pos x="74" y="396"/>
              </a:cxn>
              <a:cxn ang="0">
                <a:pos x="178" y="425"/>
              </a:cxn>
              <a:cxn ang="0">
                <a:pos x="200" y="327"/>
              </a:cxn>
              <a:cxn ang="0">
                <a:pos x="211" y="277"/>
              </a:cxn>
              <a:cxn ang="0">
                <a:pos x="179" y="297"/>
              </a:cxn>
            </a:cxnLst>
            <a:rect l="0" t="0" r="r" b="b"/>
            <a:pathLst>
              <a:path w="211" h="425">
                <a:moveTo>
                  <a:pt x="179" y="297"/>
                </a:moveTo>
                <a:cubicBezTo>
                  <a:pt x="156" y="257"/>
                  <a:pt x="143" y="210"/>
                  <a:pt x="144" y="161"/>
                </a:cubicBezTo>
                <a:cubicBezTo>
                  <a:pt x="144" y="130"/>
                  <a:pt x="150" y="100"/>
                  <a:pt x="161" y="73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37" y="0"/>
                  <a:pt x="37" y="0"/>
                  <a:pt x="37" y="0"/>
                </a:cubicBezTo>
                <a:cubicBezTo>
                  <a:pt x="15" y="48"/>
                  <a:pt x="2" y="102"/>
                  <a:pt x="1" y="158"/>
                </a:cubicBezTo>
                <a:cubicBezTo>
                  <a:pt x="0" y="236"/>
                  <a:pt x="20" y="308"/>
                  <a:pt x="57" y="370"/>
                </a:cubicBezTo>
                <a:cubicBezTo>
                  <a:pt x="33" y="385"/>
                  <a:pt x="33" y="385"/>
                  <a:pt x="33" y="385"/>
                </a:cubicBezTo>
                <a:cubicBezTo>
                  <a:pt x="74" y="396"/>
                  <a:pt x="74" y="396"/>
                  <a:pt x="74" y="396"/>
                </a:cubicBezTo>
                <a:cubicBezTo>
                  <a:pt x="178" y="425"/>
                  <a:pt x="178" y="425"/>
                  <a:pt x="178" y="425"/>
                </a:cubicBezTo>
                <a:cubicBezTo>
                  <a:pt x="200" y="327"/>
                  <a:pt x="200" y="327"/>
                  <a:pt x="200" y="327"/>
                </a:cubicBezTo>
                <a:cubicBezTo>
                  <a:pt x="211" y="277"/>
                  <a:pt x="211" y="277"/>
                  <a:pt x="211" y="277"/>
                </a:cubicBezTo>
                <a:lnTo>
                  <a:pt x="179" y="29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43000">
                <a:schemeClr val="accent2">
                  <a:lumMod val="60000"/>
                  <a:lumOff val="40000"/>
                </a:schemeClr>
              </a:gs>
              <a:gs pos="87000">
                <a:srgbClr val="FFC000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Freeform 152">
            <a:extLst>
              <a:ext uri="{FF2B5EF4-FFF2-40B4-BE49-F238E27FC236}">
                <a16:creationId xmlns="" xmlns:a16="http://schemas.microsoft.com/office/drawing/2014/main" id="{DF4F7E9D-E17B-4128-9502-8CC530136FCD}"/>
              </a:ext>
            </a:extLst>
          </p:cNvPr>
          <p:cNvSpPr>
            <a:spLocks/>
          </p:cNvSpPr>
          <p:nvPr/>
        </p:nvSpPr>
        <p:spPr bwMode="auto">
          <a:xfrm flipH="1">
            <a:off x="2391573" y="1977236"/>
            <a:ext cx="1128839" cy="1848985"/>
          </a:xfrm>
          <a:custGeom>
            <a:avLst/>
            <a:gdLst/>
            <a:ahLst/>
            <a:cxnLst>
              <a:cxn ang="0">
                <a:pos x="154" y="55"/>
              </a:cxn>
              <a:cxn ang="0">
                <a:pos x="179" y="40"/>
              </a:cxn>
              <a:cxn ang="0">
                <a:pos x="137" y="29"/>
              </a:cxn>
              <a:cxn ang="0">
                <a:pos x="33" y="0"/>
              </a:cxn>
              <a:cxn ang="0">
                <a:pos x="11" y="98"/>
              </a:cxn>
              <a:cxn ang="0">
                <a:pos x="0" y="148"/>
              </a:cxn>
              <a:cxn ang="0">
                <a:pos x="32" y="129"/>
              </a:cxn>
              <a:cxn ang="0">
                <a:pos x="67" y="264"/>
              </a:cxn>
              <a:cxn ang="0">
                <a:pos x="51" y="352"/>
              </a:cxn>
              <a:cxn ang="0">
                <a:pos x="146" y="321"/>
              </a:cxn>
              <a:cxn ang="0">
                <a:pos x="175" y="425"/>
              </a:cxn>
              <a:cxn ang="0">
                <a:pos x="210" y="267"/>
              </a:cxn>
              <a:cxn ang="0">
                <a:pos x="154" y="55"/>
              </a:cxn>
            </a:cxnLst>
            <a:rect l="0" t="0" r="r" b="b"/>
            <a:pathLst>
              <a:path w="212" h="425">
                <a:moveTo>
                  <a:pt x="154" y="55"/>
                </a:moveTo>
                <a:cubicBezTo>
                  <a:pt x="179" y="40"/>
                  <a:pt x="179" y="40"/>
                  <a:pt x="179" y="40"/>
                </a:cubicBezTo>
                <a:cubicBezTo>
                  <a:pt x="137" y="29"/>
                  <a:pt x="137" y="29"/>
                  <a:pt x="137" y="29"/>
                </a:cubicBezTo>
                <a:cubicBezTo>
                  <a:pt x="33" y="0"/>
                  <a:pt x="33" y="0"/>
                  <a:pt x="33" y="0"/>
                </a:cubicBezTo>
                <a:cubicBezTo>
                  <a:pt x="11" y="98"/>
                  <a:pt x="11" y="98"/>
                  <a:pt x="11" y="98"/>
                </a:cubicBezTo>
                <a:cubicBezTo>
                  <a:pt x="0" y="148"/>
                  <a:pt x="0" y="148"/>
                  <a:pt x="0" y="148"/>
                </a:cubicBezTo>
                <a:cubicBezTo>
                  <a:pt x="32" y="129"/>
                  <a:pt x="32" y="129"/>
                  <a:pt x="32" y="129"/>
                </a:cubicBezTo>
                <a:cubicBezTo>
                  <a:pt x="55" y="168"/>
                  <a:pt x="68" y="215"/>
                  <a:pt x="67" y="264"/>
                </a:cubicBezTo>
                <a:cubicBezTo>
                  <a:pt x="67" y="295"/>
                  <a:pt x="61" y="325"/>
                  <a:pt x="51" y="352"/>
                </a:cubicBezTo>
                <a:cubicBezTo>
                  <a:pt x="146" y="321"/>
                  <a:pt x="146" y="321"/>
                  <a:pt x="146" y="321"/>
                </a:cubicBezTo>
                <a:cubicBezTo>
                  <a:pt x="175" y="425"/>
                  <a:pt x="175" y="425"/>
                  <a:pt x="175" y="425"/>
                </a:cubicBezTo>
                <a:cubicBezTo>
                  <a:pt x="197" y="377"/>
                  <a:pt x="209" y="323"/>
                  <a:pt x="210" y="267"/>
                </a:cubicBezTo>
                <a:cubicBezTo>
                  <a:pt x="212" y="189"/>
                  <a:pt x="191" y="117"/>
                  <a:pt x="154" y="55"/>
                </a:cubicBezTo>
                <a:close/>
              </a:path>
            </a:pathLst>
          </a:cu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29907" y="32292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rot="2112340">
            <a:off x="5384995" y="1854408"/>
            <a:ext cx="828240" cy="36933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r>
              <a:rPr lang="en-US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Orders</a:t>
            </a:r>
            <a:endParaRPr lang="en-US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1" name="Rectangle 40"/>
          <p:cNvSpPr/>
          <p:nvPr/>
        </p:nvSpPr>
        <p:spPr>
          <a:xfrm rot="16791576">
            <a:off x="2553482" y="2621407"/>
            <a:ext cx="828240" cy="36933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r>
              <a:rPr lang="en-US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FG</a:t>
            </a:r>
            <a:endParaRPr lang="en-US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2" name="Rectangle 41"/>
          <p:cNvSpPr/>
          <p:nvPr/>
        </p:nvSpPr>
        <p:spPr>
          <a:xfrm rot="20420559">
            <a:off x="3661158" y="1667441"/>
            <a:ext cx="828240" cy="36933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r>
              <a:rPr lang="en-US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Shipment</a:t>
            </a:r>
            <a:endParaRPr lang="en-US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3" name="Rectangle 42"/>
          <p:cNvSpPr/>
          <p:nvPr/>
        </p:nvSpPr>
        <p:spPr>
          <a:xfrm rot="17087012">
            <a:off x="6029207" y="3300496"/>
            <a:ext cx="828240" cy="36933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en-US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Purchase</a:t>
            </a:r>
            <a:endParaRPr lang="en-US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4" name="Rectangle 43"/>
          <p:cNvSpPr/>
          <p:nvPr/>
        </p:nvSpPr>
        <p:spPr>
          <a:xfrm rot="20600630">
            <a:off x="4802590" y="4491897"/>
            <a:ext cx="995535" cy="42716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en-US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Warehouse</a:t>
            </a:r>
            <a:endParaRPr lang="en-US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5" name="Rectangle 44"/>
          <p:cNvSpPr/>
          <p:nvPr/>
        </p:nvSpPr>
        <p:spPr>
          <a:xfrm rot="2592042">
            <a:off x="3041191" y="4329049"/>
            <a:ext cx="1042563" cy="308931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>
                <a:gd name="adj" fmla="val 21352328"/>
              </a:avLst>
            </a:prstTxWarp>
            <a:spAutoFit/>
          </a:bodyPr>
          <a:lstStyle/>
          <a:p>
            <a:pPr algn="ctr"/>
            <a:r>
              <a:rPr lang="en-US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Production</a:t>
            </a:r>
            <a:endParaRPr lang="en-US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5" name="Notched Right Arrow 14"/>
          <p:cNvSpPr/>
          <p:nvPr/>
        </p:nvSpPr>
        <p:spPr>
          <a:xfrm>
            <a:off x="8094759" y="2262216"/>
            <a:ext cx="1572160" cy="518525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Completed</a:t>
            </a:r>
            <a:endParaRPr lang="en-US" dirty="0"/>
          </a:p>
        </p:txBody>
      </p:sp>
      <p:sp>
        <p:nvSpPr>
          <p:cNvPr id="47" name="Notched Right Arrow 46"/>
          <p:cNvSpPr/>
          <p:nvPr/>
        </p:nvSpPr>
        <p:spPr>
          <a:xfrm>
            <a:off x="8094759" y="3139765"/>
            <a:ext cx="1572160" cy="518525"/>
          </a:xfrm>
          <a:prstGeom prst="notchedRight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43000">
                <a:schemeClr val="accent2">
                  <a:lumMod val="60000"/>
                  <a:lumOff val="40000"/>
                </a:schemeClr>
              </a:gs>
              <a:gs pos="87000">
                <a:srgbClr val="FFC000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Ongoing</a:t>
            </a:r>
            <a:endParaRPr lang="en-US" dirty="0"/>
          </a:p>
        </p:txBody>
      </p:sp>
      <p:sp>
        <p:nvSpPr>
          <p:cNvPr id="48" name="Notched Right Arrow 47"/>
          <p:cNvSpPr/>
          <p:nvPr/>
        </p:nvSpPr>
        <p:spPr>
          <a:xfrm>
            <a:off x="8161091" y="3867324"/>
            <a:ext cx="1572160" cy="518525"/>
          </a:xfrm>
          <a:prstGeom prst="notchedRightArrow">
            <a:avLst/>
          </a:prstGeom>
          <a:gradFill flip="none" rotWithShape="1">
            <a:gsLst>
              <a:gs pos="16000">
                <a:schemeClr val="accent6">
                  <a:lumMod val="20000"/>
                  <a:lumOff val="80000"/>
                </a:schemeClr>
              </a:gs>
              <a:gs pos="93805">
                <a:srgbClr val="FF0000"/>
              </a:gs>
              <a:gs pos="0">
                <a:schemeClr val="bg1">
                  <a:lumMod val="95000"/>
                </a:schemeClr>
              </a:gs>
              <a:gs pos="56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not start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79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tx1"/>
            </a:gs>
            <a:gs pos="61000">
              <a:schemeClr val="tx1"/>
            </a:gs>
            <a:gs pos="49000">
              <a:schemeClr val="tx1"/>
            </a:gs>
            <a:gs pos="33000">
              <a:schemeClr val="tx1">
                <a:lumMod val="75000"/>
                <a:lumOff val="25000"/>
                <a:alpha val="92000"/>
              </a:schemeClr>
            </a:gs>
            <a:gs pos="91000">
              <a:schemeClr val="tx2"/>
            </a:gs>
            <a:gs pos="81000">
              <a:schemeClr val="tx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28242" y="100603"/>
            <a:ext cx="771038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160">
                  <a:solidFill>
                    <a:srgbClr val="FF0000"/>
                  </a:solidFill>
                  <a:prstDash val="solid"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END-TO-END DECISION MAKING SYSTEM FUNCTIONALITIES</a:t>
            </a:r>
            <a:endParaRPr lang="en-US" sz="2400" b="1" dirty="0">
              <a:ln w="10160">
                <a:solidFill>
                  <a:srgbClr val="FF0000"/>
                </a:solidFill>
                <a:prstDash val="solid"/>
              </a:ln>
              <a:solidFill>
                <a:schemeClr val="accent6">
                  <a:lumMod val="40000"/>
                  <a:lumOff val="6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83" y="160531"/>
            <a:ext cx="555014" cy="55501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38" y="48615"/>
            <a:ext cx="802092" cy="71771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63913" y="5127719"/>
            <a:ext cx="41549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   </a:t>
            </a:r>
            <a:endParaRPr lang="en-US" sz="2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29907" y="32292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341745" y="868821"/>
            <a:ext cx="11413938" cy="435582"/>
          </a:xfrm>
          <a:prstGeom prst="roundRect">
            <a:avLst/>
          </a:prstGeom>
          <a:solidFill>
            <a:schemeClr val="accent3">
              <a:lumMod val="60000"/>
              <a:lumOff val="40000"/>
              <a:alpha val="5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Order article quantity function based on CRD and PO , </a:t>
            </a:r>
            <a:r>
              <a:rPr lang="en-GB" sz="1400" dirty="0" smtClean="0">
                <a:solidFill>
                  <a:schemeClr val="bg1"/>
                </a:solidFill>
              </a:rPr>
              <a:t>Article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08940" y="878844"/>
            <a:ext cx="1394072" cy="41425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Order</a:t>
            </a:r>
            <a:endParaRPr lang="en-IN" b="1" dirty="0"/>
          </a:p>
        </p:txBody>
      </p:sp>
      <p:sp>
        <p:nvSpPr>
          <p:cNvPr id="26" name="Rounded Rectangle 25"/>
          <p:cNvSpPr/>
          <p:nvPr/>
        </p:nvSpPr>
        <p:spPr>
          <a:xfrm>
            <a:off x="341745" y="1360507"/>
            <a:ext cx="11413938" cy="528657"/>
          </a:xfrm>
          <a:prstGeom prst="roundRect">
            <a:avLst/>
          </a:prstGeom>
          <a:solidFill>
            <a:schemeClr val="accent2">
              <a:alpha val="66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Send alerts to the Purchase and planning department while the warehouse has lack of material for the PO according the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 planning schedule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84814" y="1426916"/>
            <a:ext cx="1394072" cy="41425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Purchase</a:t>
            </a:r>
            <a:endParaRPr lang="en-IN" dirty="0"/>
          </a:p>
        </p:txBody>
      </p:sp>
      <p:sp>
        <p:nvSpPr>
          <p:cNvPr id="32" name="Rounded Rectangle 31"/>
          <p:cNvSpPr/>
          <p:nvPr/>
        </p:nvSpPr>
        <p:spPr>
          <a:xfrm>
            <a:off x="312931" y="1939726"/>
            <a:ext cx="11471565" cy="978599"/>
          </a:xfrm>
          <a:prstGeom prst="roundRect">
            <a:avLst/>
          </a:prstGeom>
          <a:solidFill>
            <a:schemeClr val="accent6">
              <a:alpha val="64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Visualizing ware house status in Status of PO order to shipment function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Visualizing Overall Count and Material Available count in Material Tracking Report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Identity Cutting , stitching , assembly stop lines before 3 days and send alert to the warehouse department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Visualizing material status for each material </a:t>
            </a:r>
            <a:endParaRPr lang="en-IN" sz="1400" dirty="0"/>
          </a:p>
        </p:txBody>
      </p:sp>
      <p:sp>
        <p:nvSpPr>
          <p:cNvPr id="49" name="Rounded Rectangle 48"/>
          <p:cNvSpPr/>
          <p:nvPr/>
        </p:nvSpPr>
        <p:spPr>
          <a:xfrm>
            <a:off x="10303410" y="2170697"/>
            <a:ext cx="1375476" cy="41425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Warehouse</a:t>
            </a:r>
            <a:endParaRPr lang="en-IN" dirty="0"/>
          </a:p>
        </p:txBody>
      </p:sp>
      <p:sp>
        <p:nvSpPr>
          <p:cNvPr id="51" name="Rounded Rectangle 50"/>
          <p:cNvSpPr/>
          <p:nvPr/>
        </p:nvSpPr>
        <p:spPr>
          <a:xfrm>
            <a:off x="312931" y="2929629"/>
            <a:ext cx="11471565" cy="721320"/>
          </a:xfrm>
          <a:prstGeom prst="roundRect">
            <a:avLst/>
          </a:prstGeom>
          <a:solidFill>
            <a:schemeClr val="accent3">
              <a:lumMod val="60000"/>
              <a:lumOff val="40000"/>
              <a:alpha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400" dirty="0" smtClean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GB" sz="1400" dirty="0" smtClean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1400" dirty="0" smtClean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1400" dirty="0" smtClean="0">
                <a:solidFill>
                  <a:schemeClr val="bg1"/>
                </a:solidFill>
              </a:rPr>
              <a:t>Visualize production status with colour indication in PO Tracking report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1400" dirty="0" smtClean="0">
                <a:solidFill>
                  <a:schemeClr val="bg1"/>
                </a:solidFill>
              </a:rPr>
              <a:t>Visualize size wise Cutting , stitching , assembly , packing output quantities and Status with colour indication </a:t>
            </a:r>
          </a:p>
          <a:p>
            <a:endParaRPr lang="en-GB" sz="1400" dirty="0" smtClean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10308940" y="3159126"/>
            <a:ext cx="1394072" cy="41425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Production</a:t>
            </a:r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36" name="Rounded Rectangle 35"/>
          <p:cNvSpPr/>
          <p:nvPr/>
        </p:nvSpPr>
        <p:spPr>
          <a:xfrm>
            <a:off x="341745" y="5026545"/>
            <a:ext cx="11471565" cy="170344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1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Visualize timelines from order to shipment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 The status with colour indication for bom , purchase , warehouse , cutting , stitching , assembly , packing , finished goods , shipment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Visualizing the size wise outputs and status with colour indication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Visualize the Outputs from Order to shipment and Completion percentage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Identify Left over stack and NO Need Pos for Production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Visualize PO Details with colour indication and Overall PO Status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PO Completion pie chart </a:t>
            </a:r>
            <a:endParaRPr lang="en-IN" dirty="0" smtClean="0"/>
          </a:p>
          <a:p>
            <a:pPr marL="342900" indent="-342900">
              <a:buFont typeface="+mj-lt"/>
              <a:buAutoNum type="arabicPeriod"/>
            </a:pPr>
            <a:endParaRPr lang="en-GB" sz="1400" dirty="0" smtClean="0"/>
          </a:p>
        </p:txBody>
      </p:sp>
      <p:sp>
        <p:nvSpPr>
          <p:cNvPr id="37" name="Rounded Rectangle 36"/>
          <p:cNvSpPr/>
          <p:nvPr/>
        </p:nvSpPr>
        <p:spPr>
          <a:xfrm>
            <a:off x="312932" y="3733896"/>
            <a:ext cx="11471564" cy="485977"/>
          </a:xfrm>
          <a:prstGeom prst="roundRect">
            <a:avLst/>
          </a:prstGeom>
          <a:solidFill>
            <a:schemeClr val="accent2">
              <a:alpha val="74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Visualize FG output quantity for a PO and Status with colour indication </a:t>
            </a:r>
            <a:endParaRPr lang="en-IN" sz="1400" dirty="0"/>
          </a:p>
        </p:txBody>
      </p:sp>
      <p:sp>
        <p:nvSpPr>
          <p:cNvPr id="35" name="Rounded Rectangle 34"/>
          <p:cNvSpPr/>
          <p:nvPr/>
        </p:nvSpPr>
        <p:spPr>
          <a:xfrm>
            <a:off x="9638622" y="5587379"/>
            <a:ext cx="2174688" cy="5817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Summary</a:t>
            </a:r>
            <a:r>
              <a:rPr lang="en-GB" dirty="0" smtClean="0"/>
              <a:t> </a:t>
            </a:r>
            <a:r>
              <a:rPr lang="en-GB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Reports</a:t>
            </a:r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54" name="Rounded Rectangle 53"/>
          <p:cNvSpPr/>
          <p:nvPr/>
        </p:nvSpPr>
        <p:spPr>
          <a:xfrm>
            <a:off x="9755202" y="3750279"/>
            <a:ext cx="2134139" cy="47339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Finished</a:t>
            </a:r>
            <a:r>
              <a:rPr lang="en-GB" dirty="0" smtClean="0"/>
              <a:t> </a:t>
            </a:r>
            <a:r>
              <a:rPr lang="en-GB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Goods</a:t>
            </a:r>
            <a:endParaRPr lang="en-IN" dirty="0"/>
          </a:p>
        </p:txBody>
      </p:sp>
      <p:sp>
        <p:nvSpPr>
          <p:cNvPr id="55" name="Rounded Rectangle 54"/>
          <p:cNvSpPr/>
          <p:nvPr/>
        </p:nvSpPr>
        <p:spPr>
          <a:xfrm>
            <a:off x="312931" y="4290950"/>
            <a:ext cx="11471565" cy="660717"/>
          </a:xfrm>
          <a:prstGeom prst="roundRect">
            <a:avLst/>
          </a:prstGeom>
          <a:solidFill>
            <a:schemeClr val="accent6">
              <a:alpha val="75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Visualize shipment article quantity based on CRD , article and PO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Visualize shipment quantity and completion percentage with colour indication and Time line for shipmen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13338" y="4446685"/>
            <a:ext cx="1389674" cy="3843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Shipment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666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81698" y="104062"/>
            <a:ext cx="691137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END-TO-END DECISION MAKING SYSTEM </a:t>
            </a:r>
            <a:r>
              <a:rPr lang="en-US" sz="2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MAIN PAGE</a:t>
            </a:r>
            <a:endParaRPr lang="en-US" sz="2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571" y="2135255"/>
            <a:ext cx="9445211" cy="45103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0241" y="4014103"/>
            <a:ext cx="671198" cy="23826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4181" y="701736"/>
            <a:ext cx="11407160" cy="435582"/>
          </a:xfrm>
          <a:prstGeom prst="roundRect">
            <a:avLst/>
          </a:prstGeom>
          <a:solidFill>
            <a:schemeClr val="accent3">
              <a:lumMod val="60000"/>
              <a:lumOff val="40000"/>
              <a:alpha val="5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1400" dirty="0" smtClean="0">
                <a:solidFill>
                  <a:schemeClr val="bg1"/>
                </a:solidFill>
              </a:rPr>
              <a:t>Visualization of order article quantity </a:t>
            </a:r>
            <a:r>
              <a:rPr lang="en-GB" sz="1400" dirty="0"/>
              <a:t>based on CRD , article and </a:t>
            </a:r>
            <a:r>
              <a:rPr lang="en-GB" sz="1400" dirty="0" smtClean="0"/>
              <a:t>PO</a:t>
            </a:r>
            <a:r>
              <a:rPr lang="en-GB" sz="1400" dirty="0" smtClean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4180" y="1153732"/>
            <a:ext cx="11471565" cy="419595"/>
          </a:xfrm>
          <a:prstGeom prst="roundRect">
            <a:avLst/>
          </a:prstGeom>
          <a:solidFill>
            <a:schemeClr val="accent6">
              <a:alpha val="75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Visualize shipment article quantity based on CRD , article and 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180" y="1599011"/>
            <a:ext cx="11471565" cy="442844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Visualize PO Details with colour indication and Overall PO Status 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417000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2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89" y="1815139"/>
            <a:ext cx="9562883" cy="481557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-94229"/>
            <a:ext cx="208800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Summary Reports</a:t>
            </a:r>
            <a:endParaRPr lang="en-US" sz="2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26629" y="465305"/>
            <a:ext cx="10277079" cy="1190410"/>
          </a:xfrm>
          <a:prstGeom prst="roundRect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Visualize the status for BOM , PURCHASE , WAREHOUSE , CUTTING , STITCHING , ASSEMBLY , PACKING  , FG , SHIPMENT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Visualize size wise production outputs and shipment outputs with colour indication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Visualize Output quantities from order to shipment and completion percentage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Identify left over stack and No need Pos for Production  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957384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366" y="1441774"/>
            <a:ext cx="9304325" cy="5236721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95284" y="0"/>
            <a:ext cx="208800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Summary Reports</a:t>
            </a:r>
            <a:endParaRPr lang="en-US" sz="2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81889" y="495081"/>
            <a:ext cx="11471565" cy="851722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Visualize the time lines for Business ( Order placing , Material placing and material receiving 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Visualize the time lines for Production ( Cutting , Stitching , assembly , packing 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Visualize the time lines for FG and shipment </a:t>
            </a:r>
          </a:p>
        </p:txBody>
      </p:sp>
    </p:spTree>
    <p:extLst>
      <p:ext uri="{BB962C8B-B14F-4D97-AF65-F5344CB8AC3E}">
        <p14:creationId xmlns:p14="http://schemas.microsoft.com/office/powerpoint/2010/main" val="2409221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70" y="1303311"/>
            <a:ext cx="10996504" cy="5263743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38644" y="0"/>
            <a:ext cx="278460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PO Completion Pie chart</a:t>
            </a:r>
            <a:endParaRPr lang="en-US" sz="2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0435" y="612547"/>
            <a:ext cx="11471565" cy="478328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smtClean="0"/>
              <a:t>Visualization of PO Completion Percentage and Pos Completion Count in Pie chart  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819738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5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63" y="4775200"/>
            <a:ext cx="4210613" cy="205618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8211" y="4934195"/>
            <a:ext cx="2449135" cy="147732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If any cutting lines are </a:t>
            </a:r>
            <a:r>
              <a:rPr lang="en-GB" dirty="0" smtClean="0">
                <a:solidFill>
                  <a:srgbClr val="FF0000"/>
                </a:solidFill>
              </a:rPr>
              <a:t>stopped </a:t>
            </a:r>
            <a:r>
              <a:rPr lang="en-GB" dirty="0">
                <a:solidFill>
                  <a:srgbClr val="FF0000"/>
                </a:solidFill>
              </a:rPr>
              <a:t>due to lack of material, an alert is sent to the planning department every day.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927447" y="5662909"/>
            <a:ext cx="359070" cy="995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63" y="979844"/>
            <a:ext cx="9328480" cy="364745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66" y="4775200"/>
            <a:ext cx="4920632" cy="2056184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18" name="Rounded Rectangle 17"/>
          <p:cNvSpPr/>
          <p:nvPr/>
        </p:nvSpPr>
        <p:spPr>
          <a:xfrm>
            <a:off x="8004932" y="2454842"/>
            <a:ext cx="345989" cy="1639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992485" y="2663218"/>
            <a:ext cx="4086339" cy="20675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1775" y="4605825"/>
            <a:ext cx="712387" cy="2497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8035" y="1468032"/>
            <a:ext cx="701302" cy="24485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62163" y="38269"/>
            <a:ext cx="11791292" cy="896717"/>
          </a:xfrm>
          <a:prstGeom prst="roundRect">
            <a:avLst/>
          </a:prstGeom>
          <a:solidFill>
            <a:schemeClr val="accent3">
              <a:alpha val="43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Identify Available material and not available material for Pos and send alerts to the planning department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 identify cutting , stitching and assembly stop lines before 3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Identify Available and Not available Bottom and upper Pos count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043793" y="565654"/>
            <a:ext cx="18395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Material Tracking</a:t>
            </a:r>
          </a:p>
        </p:txBody>
      </p:sp>
    </p:spTree>
    <p:extLst>
      <p:ext uri="{BB962C8B-B14F-4D97-AF65-F5344CB8AC3E}">
        <p14:creationId xmlns:p14="http://schemas.microsoft.com/office/powerpoint/2010/main" val="2095912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26" y="82377"/>
            <a:ext cx="11839604" cy="67014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32150" y="5919984"/>
            <a:ext cx="6874425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hlinkClick r:id="rId4"/>
              </a:rPr>
              <a:t>https://</a:t>
            </a:r>
            <a:r>
              <a:rPr lang="en-US" sz="1200" dirty="0" smtClean="0">
                <a:hlinkClick r:id="rId4"/>
              </a:rPr>
              <a:t>app.powerbi.com/view?r=eyJrIjoiYTI0NGQwZmQtMmVkNi00OTYwLTkzYzMtOTA4ODVkNWNmZjg0IiwidCI6IjQ4MWExNWMxLTk5OTItNGIyZC05YzdiLTIxMzA2N2Q2MjQ2NCJ9</a:t>
            </a:r>
            <a:r>
              <a:rPr lang="en-US" sz="1200" dirty="0" smtClean="0"/>
              <a:t> 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86290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297508"/>
              </p:ext>
            </p:extLst>
          </p:nvPr>
        </p:nvGraphicFramePr>
        <p:xfrm>
          <a:off x="870088" y="1293643"/>
          <a:ext cx="9385644" cy="5289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411"/>
                <a:gridCol w="2346411"/>
                <a:gridCol w="2346411"/>
                <a:gridCol w="2346411"/>
              </a:tblGrid>
              <a:tr h="436748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            Phase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               Item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          Due Day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        Status</a:t>
                      </a:r>
                      <a:endParaRPr lang="en-IN" dirty="0"/>
                    </a:p>
                  </a:txBody>
                  <a:tcPr/>
                </a:tc>
              </a:tr>
              <a:tr h="482769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Preparation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Project Initiation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2025/04/16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Close</a:t>
                      </a:r>
                    </a:p>
                  </a:txBody>
                  <a:tcPr/>
                </a:tc>
              </a:tr>
              <a:tr h="482769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Blueprint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Blue</a:t>
                      </a:r>
                      <a:r>
                        <a:rPr lang="en-GB" baseline="0" dirty="0" smtClean="0"/>
                        <a:t> print Review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2025/04/29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Close</a:t>
                      </a:r>
                      <a:endParaRPr lang="en-IN" dirty="0"/>
                    </a:p>
                  </a:txBody>
                  <a:tcPr/>
                </a:tc>
              </a:tr>
              <a:tr h="482769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Realization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Function Development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2025/07/15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Ongoing </a:t>
                      </a:r>
                      <a:endParaRPr lang="en-IN" dirty="0"/>
                    </a:p>
                  </a:txBody>
                  <a:tcPr/>
                </a:tc>
              </a:tr>
              <a:tr h="482769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Realization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Unit</a:t>
                      </a:r>
                      <a:r>
                        <a:rPr lang="en-GB" baseline="0" dirty="0" smtClean="0"/>
                        <a:t> Test 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2025/07/30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Not Started </a:t>
                      </a:r>
                      <a:endParaRPr lang="en-IN" dirty="0"/>
                    </a:p>
                  </a:txBody>
                  <a:tcPr/>
                </a:tc>
              </a:tr>
              <a:tr h="482769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Realization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Unit Test Biz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2025/08/05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Not Started </a:t>
                      </a:r>
                      <a:endParaRPr lang="en-IN" dirty="0"/>
                    </a:p>
                  </a:txBody>
                  <a:tcPr/>
                </a:tc>
              </a:tr>
              <a:tr h="482769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Realization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User Acceptance Test</a:t>
                      </a:r>
                      <a:r>
                        <a:rPr lang="en-GB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2025/08/10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Not Started </a:t>
                      </a:r>
                    </a:p>
                  </a:txBody>
                  <a:tcPr/>
                </a:tc>
              </a:tr>
              <a:tr h="833272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Final Preparation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Go-live</a:t>
                      </a:r>
                      <a:r>
                        <a:rPr lang="en-GB" baseline="0" dirty="0" smtClean="0"/>
                        <a:t> Readiness and Review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2025/08/16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Not Started </a:t>
                      </a:r>
                    </a:p>
                  </a:txBody>
                  <a:tcPr/>
                </a:tc>
              </a:tr>
              <a:tr h="482769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Post-Production</a:t>
                      </a:r>
                      <a:r>
                        <a:rPr lang="en-GB" baseline="0" dirty="0" smtClean="0"/>
                        <a:t> Support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Go-live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2025/08/20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Not Started </a:t>
                      </a:r>
                      <a:endParaRPr lang="en-IN" dirty="0"/>
                    </a:p>
                  </a:txBody>
                  <a:tcPr/>
                </a:tc>
              </a:tr>
              <a:tr h="482769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PPS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Project Exit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2025/08/30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Not Started 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269163" y="587280"/>
            <a:ext cx="7093352" cy="461665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accent6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END TO END DECISION MAKING SYSTEM TIME LINES</a:t>
            </a:r>
            <a:endParaRPr lang="en-US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chemeClr val="accent6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686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9" y="83348"/>
            <a:ext cx="12052581" cy="657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40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1428</TotalTime>
  <Words>793</Words>
  <Application>Microsoft Office PowerPoint</Application>
  <PresentationFormat>Widescreen</PresentationFormat>
  <Paragraphs>149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72 Black</vt:lpstr>
      <vt:lpstr>Arial</vt:lpstr>
      <vt:lpstr>Calibri</vt:lpstr>
      <vt:lpstr>Calibri Light</vt:lpstr>
      <vt:lpstr>Segoe UI</vt:lpstr>
      <vt:lpstr>Segoe UI Black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122</cp:revision>
  <dcterms:created xsi:type="dcterms:W3CDTF">2025-03-20T08:41:33Z</dcterms:created>
  <dcterms:modified xsi:type="dcterms:W3CDTF">2025-06-19T03:27:49Z</dcterms:modified>
</cp:coreProperties>
</file>